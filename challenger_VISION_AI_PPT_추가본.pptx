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18288000" cy="10287000"/>
  <p:notesSz cx="6858000" cy="9144000"/>
  <p:embeddedFontLst>
    <p:embeddedFont>
      <p:font typeface="Pretendard Bold"/>
      <p:bold r:id="rId22"/>
    </p:embeddedFont>
    <p:embeddedFont>
      <p:font typeface="Pretendard ExtraBold"/>
      <p:bold r:id="rId23"/>
    </p:embeddedFont>
    <p:embeddedFont>
      <p:font typeface="Pretendard Light"/>
      <p:regular r:id="rId24"/>
    </p:embeddedFont>
    <p:embeddedFont>
      <p:font typeface="Pretendard SemiBold"/>
      <p:bold r:id="rId25"/>
    </p:embeddedFont>
    <p:embeddedFont>
      <p:font typeface="210 OmniGothic 050"/>
      <p:regular r:id="rId26"/>
    </p:embeddedFont>
    <p:embeddedFont>
      <p:font typeface="Pretendard Regular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fonts/font1.fntdata" Type="http://schemas.openxmlformats.org/officeDocument/2006/relationships/font"/><Relationship Id="rId23" Target="fonts/font2.fntdata" Type="http://schemas.openxmlformats.org/officeDocument/2006/relationships/font"/><Relationship Id="rId24" Target="fonts/font3.fntdata" Type="http://schemas.openxmlformats.org/officeDocument/2006/relationships/font"/><Relationship Id="rId25" Target="fonts/font4.fntdata" Type="http://schemas.openxmlformats.org/officeDocument/2006/relationships/font"/><Relationship Id="rId26" Target="fonts/font5.fntdata" Type="http://schemas.openxmlformats.org/officeDocument/2006/relationships/font"/><Relationship Id="rId27" Target="fonts/font6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.png" Type="http://schemas.openxmlformats.org/officeDocument/2006/relationships/image"/><Relationship Id="rId11" Target="../media/image7.svg" Type="http://schemas.openxmlformats.org/officeDocument/2006/relationships/image"/><Relationship Id="rId2" Target="../media/image8.png" Type="http://schemas.openxmlformats.org/officeDocument/2006/relationships/image"/><Relationship Id="rId3" Target="../media/image9.sv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4.sv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19.png" Type="http://schemas.openxmlformats.org/officeDocument/2006/relationships/image"/><Relationship Id="rId6" Target="../media/image20.svg" Type="http://schemas.openxmlformats.org/officeDocument/2006/relationships/image"/><Relationship Id="rId7" Target="../media/image21.png" Type="http://schemas.openxmlformats.org/officeDocument/2006/relationships/image"/><Relationship Id="rId8" Target="../media/image22.png" Type="http://schemas.openxmlformats.org/officeDocument/2006/relationships/image"/><Relationship Id="rId9" Target="../media/image23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0.png" Type="http://schemas.openxmlformats.org/officeDocument/2006/relationships/image"/><Relationship Id="rId11" Target="../media/image31.svg" Type="http://schemas.openxmlformats.org/officeDocument/2006/relationships/image"/><Relationship Id="rId12" Target="../media/image21.png" Type="http://schemas.openxmlformats.org/officeDocument/2006/relationships/image"/><Relationship Id="rId2" Target="../media/image24.pn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25.png" Type="http://schemas.openxmlformats.org/officeDocument/2006/relationships/image"/><Relationship Id="rId6" Target="../media/image26.svg" Type="http://schemas.openxmlformats.org/officeDocument/2006/relationships/image"/><Relationship Id="rId7" Target="../media/image27.png" Type="http://schemas.openxmlformats.org/officeDocument/2006/relationships/image"/><Relationship Id="rId8" Target="../media/image28.png" Type="http://schemas.openxmlformats.org/officeDocument/2006/relationships/image"/><Relationship Id="rId9" Target="../media/image29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0.png" Type="http://schemas.openxmlformats.org/officeDocument/2006/relationships/image"/><Relationship Id="rId2" Target="../media/image32.png" Type="http://schemas.openxmlformats.org/officeDocument/2006/relationships/image"/><Relationship Id="rId3" Target="../media/image33.svg" Type="http://schemas.openxmlformats.org/officeDocument/2006/relationships/image"/><Relationship Id="rId4" Target="../media/image34.png" Type="http://schemas.openxmlformats.org/officeDocument/2006/relationships/image"/><Relationship Id="rId5" Target="../media/image35.svg" Type="http://schemas.openxmlformats.org/officeDocument/2006/relationships/image"/><Relationship Id="rId6" Target="../media/image36.png" Type="http://schemas.openxmlformats.org/officeDocument/2006/relationships/image"/><Relationship Id="rId7" Target="../media/image37.svg" Type="http://schemas.openxmlformats.org/officeDocument/2006/relationships/image"/><Relationship Id="rId8" Target="../media/image38.png" Type="http://schemas.openxmlformats.org/officeDocument/2006/relationships/image"/><Relationship Id="rId9" Target="../media/image39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8.svg" Type="http://schemas.openxmlformats.org/officeDocument/2006/relationships/image"/><Relationship Id="rId11" Target="../media/image49.png" Type="http://schemas.openxmlformats.org/officeDocument/2006/relationships/image"/><Relationship Id="rId12" Target="../media/image50.svg" Type="http://schemas.openxmlformats.org/officeDocument/2006/relationships/image"/><Relationship Id="rId13" Target="../media/image51.png" Type="http://schemas.openxmlformats.org/officeDocument/2006/relationships/image"/><Relationship Id="rId14" Target="../media/image52.svg" Type="http://schemas.openxmlformats.org/officeDocument/2006/relationships/image"/><Relationship Id="rId15" Target="../media/image53.png" Type="http://schemas.openxmlformats.org/officeDocument/2006/relationships/image"/><Relationship Id="rId16" Target="../media/image54.svg" Type="http://schemas.openxmlformats.org/officeDocument/2006/relationships/image"/><Relationship Id="rId17" Target="../media/image55.png" Type="http://schemas.openxmlformats.org/officeDocument/2006/relationships/image"/><Relationship Id="rId18" Target="../media/image56.png" Type="http://schemas.openxmlformats.org/officeDocument/2006/relationships/image"/><Relationship Id="rId19" Target="../media/image57.svg" Type="http://schemas.openxmlformats.org/officeDocument/2006/relationships/image"/><Relationship Id="rId2" Target="../media/image16.png" Type="http://schemas.openxmlformats.org/officeDocument/2006/relationships/image"/><Relationship Id="rId20" Target="../media/image58.svg" Type="http://schemas.openxmlformats.org/officeDocument/2006/relationships/image"/><Relationship Id="rId21" Target="../media/image59.png" Type="http://schemas.openxmlformats.org/officeDocument/2006/relationships/image"/><Relationship Id="rId22" Target="../media/image60.svg" Type="http://schemas.openxmlformats.org/officeDocument/2006/relationships/image"/><Relationship Id="rId23" Target="../media/image61.png" Type="http://schemas.openxmlformats.org/officeDocument/2006/relationships/image"/><Relationship Id="rId24" Target="../media/image62.png" Type="http://schemas.openxmlformats.org/officeDocument/2006/relationships/image"/><Relationship Id="rId25" Target="../media/image63.svg" Type="http://schemas.openxmlformats.org/officeDocument/2006/relationships/image"/><Relationship Id="rId26" Target="../media/image64.png" Type="http://schemas.openxmlformats.org/officeDocument/2006/relationships/image"/><Relationship Id="rId27" Target="../media/image65.svg" Type="http://schemas.openxmlformats.org/officeDocument/2006/relationships/image"/><Relationship Id="rId28" Target="../media/image66.png" Type="http://schemas.openxmlformats.org/officeDocument/2006/relationships/image"/><Relationship Id="rId29" Target="../media/image67.svg" Type="http://schemas.openxmlformats.org/officeDocument/2006/relationships/image"/><Relationship Id="rId3" Target="../media/image41.png" Type="http://schemas.openxmlformats.org/officeDocument/2006/relationships/image"/><Relationship Id="rId4" Target="../media/image42.svg" Type="http://schemas.openxmlformats.org/officeDocument/2006/relationships/image"/><Relationship Id="rId5" Target="../media/image43.png" Type="http://schemas.openxmlformats.org/officeDocument/2006/relationships/image"/><Relationship Id="rId6" Target="../media/image44.svg" Type="http://schemas.openxmlformats.org/officeDocument/2006/relationships/image"/><Relationship Id="rId7" Target="../media/image45.png" Type="http://schemas.openxmlformats.org/officeDocument/2006/relationships/image"/><Relationship Id="rId8" Target="../media/image46.svg" Type="http://schemas.openxmlformats.org/officeDocument/2006/relationships/image"/><Relationship Id="rId9" Target="../media/image4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8.png" Type="http://schemas.openxmlformats.org/officeDocument/2006/relationships/image"/><Relationship Id="rId3" Target="https://127.0.0.1:8000" TargetMode="External" Type="http://schemas.openxmlformats.org/officeDocument/2006/relationships/hyperlink"/><Relationship Id="rId4" Target="../media/image69.png" Type="http://schemas.openxmlformats.org/officeDocument/2006/relationships/image"/><Relationship Id="rId5" Target="../media/image70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7.svg" Type="http://schemas.openxmlformats.org/officeDocument/2006/relationships/image"/><Relationship Id="rId11" Target="../media/image78.svg" Type="http://schemas.openxmlformats.org/officeDocument/2006/relationships/image"/><Relationship Id="rId2" Target="../media/image71.png" Type="http://schemas.openxmlformats.org/officeDocument/2006/relationships/image"/><Relationship Id="rId3" Target="../media/image72.svg" Type="http://schemas.openxmlformats.org/officeDocument/2006/relationships/image"/><Relationship Id="rId4" Target="../media/image41.png" Type="http://schemas.openxmlformats.org/officeDocument/2006/relationships/image"/><Relationship Id="rId5" Target="../media/image42.svg" Type="http://schemas.openxmlformats.org/officeDocument/2006/relationships/image"/><Relationship Id="rId6" Target="../media/image73.png" Type="http://schemas.openxmlformats.org/officeDocument/2006/relationships/image"/><Relationship Id="rId7" Target="../media/image74.png" Type="http://schemas.openxmlformats.org/officeDocument/2006/relationships/image"/><Relationship Id="rId8" Target="../media/image75.svg" Type="http://schemas.openxmlformats.org/officeDocument/2006/relationships/image"/><Relationship Id="rId9" Target="../media/image7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3.png" Type="http://schemas.openxmlformats.org/officeDocument/2006/relationships/image"/><Relationship Id="rId11" Target="../media/image84.png" Type="http://schemas.openxmlformats.org/officeDocument/2006/relationships/image"/><Relationship Id="rId12" Target="../media/image85.svg" Type="http://schemas.openxmlformats.org/officeDocument/2006/relationships/image"/><Relationship Id="rId13" Target="../media/image86.png" Type="http://schemas.openxmlformats.org/officeDocument/2006/relationships/image"/><Relationship Id="rId2" Target="../media/image71.png" Type="http://schemas.openxmlformats.org/officeDocument/2006/relationships/image"/><Relationship Id="rId3" Target="../media/image72.svg" Type="http://schemas.openxmlformats.org/officeDocument/2006/relationships/image"/><Relationship Id="rId4" Target="../media/image41.png" Type="http://schemas.openxmlformats.org/officeDocument/2006/relationships/image"/><Relationship Id="rId5" Target="../media/image42.svg" Type="http://schemas.openxmlformats.org/officeDocument/2006/relationships/image"/><Relationship Id="rId6" Target="../media/image79.png" Type="http://schemas.openxmlformats.org/officeDocument/2006/relationships/image"/><Relationship Id="rId7" Target="../media/image80.svg" Type="http://schemas.openxmlformats.org/officeDocument/2006/relationships/image"/><Relationship Id="rId8" Target="../media/image81.png" Type="http://schemas.openxmlformats.org/officeDocument/2006/relationships/image"/><Relationship Id="rId9" Target="../media/image82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1.svg" Type="http://schemas.openxmlformats.org/officeDocument/2006/relationships/image"/><Relationship Id="rId11" Target="../media/image92.png" Type="http://schemas.openxmlformats.org/officeDocument/2006/relationships/image"/><Relationship Id="rId12" Target="../media/image93.svg" Type="http://schemas.openxmlformats.org/officeDocument/2006/relationships/image"/><Relationship Id="rId13" Target="../media/image66.png" Type="http://schemas.openxmlformats.org/officeDocument/2006/relationships/image"/><Relationship Id="rId14" Target="../media/image67.svg" Type="http://schemas.openxmlformats.org/officeDocument/2006/relationships/image"/><Relationship Id="rId15" Target="../media/image40.png" Type="http://schemas.openxmlformats.org/officeDocument/2006/relationships/image"/><Relationship Id="rId2" Target="../media/image71.png" Type="http://schemas.openxmlformats.org/officeDocument/2006/relationships/image"/><Relationship Id="rId3" Target="../media/image72.svg" Type="http://schemas.openxmlformats.org/officeDocument/2006/relationships/image"/><Relationship Id="rId4" Target="../media/image87.png" Type="http://schemas.openxmlformats.org/officeDocument/2006/relationships/image"/><Relationship Id="rId5" Target="../media/image41.png" Type="http://schemas.openxmlformats.org/officeDocument/2006/relationships/image"/><Relationship Id="rId6" Target="../media/image42.svg" Type="http://schemas.openxmlformats.org/officeDocument/2006/relationships/image"/><Relationship Id="rId7" Target="../media/image88.png" Type="http://schemas.openxmlformats.org/officeDocument/2006/relationships/image"/><Relationship Id="rId8" Target="../media/image89.svg" Type="http://schemas.openxmlformats.org/officeDocument/2006/relationships/image"/><Relationship Id="rId9" Target="../media/image9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5.png" Type="http://schemas.openxmlformats.org/officeDocument/2006/relationships/image"/><Relationship Id="rId11" Target="../media/image96.svg" Type="http://schemas.openxmlformats.org/officeDocument/2006/relationships/image"/><Relationship Id="rId12" Target="../media/image97.png" Type="http://schemas.openxmlformats.org/officeDocument/2006/relationships/image"/><Relationship Id="rId13" Target="../media/image98.svg" Type="http://schemas.openxmlformats.org/officeDocument/2006/relationships/image"/><Relationship Id="rId14" Target="../media/image99.png" Type="http://schemas.openxmlformats.org/officeDocument/2006/relationships/image"/><Relationship Id="rId15" Target="../media/image100.png" Type="http://schemas.openxmlformats.org/officeDocument/2006/relationships/image"/><Relationship Id="rId16" Target="../media/image101.png" Type="http://schemas.openxmlformats.org/officeDocument/2006/relationships/image"/><Relationship Id="rId17" Target="../media/image102.png" Type="http://schemas.openxmlformats.org/officeDocument/2006/relationships/image"/><Relationship Id="rId18" Target="../media/image103.svg" Type="http://schemas.openxmlformats.org/officeDocument/2006/relationships/image"/><Relationship Id="rId19" Target="../media/image104.png" Type="http://schemas.openxmlformats.org/officeDocument/2006/relationships/image"/><Relationship Id="rId2" Target="../media/image71.png" Type="http://schemas.openxmlformats.org/officeDocument/2006/relationships/image"/><Relationship Id="rId20" Target="../media/image105.svg" Type="http://schemas.openxmlformats.org/officeDocument/2006/relationships/image"/><Relationship Id="rId21" Target="../media/image106.png" Type="http://schemas.openxmlformats.org/officeDocument/2006/relationships/image"/><Relationship Id="rId22" Target="../media/image107.svg" Type="http://schemas.openxmlformats.org/officeDocument/2006/relationships/image"/><Relationship Id="rId23" Target="../media/image108.png" Type="http://schemas.openxmlformats.org/officeDocument/2006/relationships/image"/><Relationship Id="rId24" Target="../media/image109.svg" Type="http://schemas.openxmlformats.org/officeDocument/2006/relationships/image"/><Relationship Id="rId25" Target="../media/image110.png" Type="http://schemas.openxmlformats.org/officeDocument/2006/relationships/image"/><Relationship Id="rId26" Target="../media/image111.svg" Type="http://schemas.openxmlformats.org/officeDocument/2006/relationships/image"/><Relationship Id="rId3" Target="../media/image72.svg" Type="http://schemas.openxmlformats.org/officeDocument/2006/relationships/image"/><Relationship Id="rId4" Target="../media/image94.png" Type="http://schemas.openxmlformats.org/officeDocument/2006/relationships/image"/><Relationship Id="rId5" Target="../media/image41.png" Type="http://schemas.openxmlformats.org/officeDocument/2006/relationships/image"/><Relationship Id="rId6" Target="../media/image42.svg" Type="http://schemas.openxmlformats.org/officeDocument/2006/relationships/image"/><Relationship Id="rId7" Target="../media/image25.png" Type="http://schemas.openxmlformats.org/officeDocument/2006/relationships/image"/><Relationship Id="rId8" Target="../media/image67.svg" Type="http://schemas.openxmlformats.org/officeDocument/2006/relationships/image"/><Relationship Id="rId9" Target="../media/image40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6.svg" Type="http://schemas.openxmlformats.org/officeDocument/2006/relationships/image"/><Relationship Id="rId11" Target="../media/image21.png" Type="http://schemas.openxmlformats.org/officeDocument/2006/relationships/image"/><Relationship Id="rId2" Target="../media/image112.pn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25.png" Type="http://schemas.openxmlformats.org/officeDocument/2006/relationships/image"/><Relationship Id="rId6" Target="../media/image26.svg" Type="http://schemas.openxmlformats.org/officeDocument/2006/relationships/image"/><Relationship Id="rId7" Target="../media/image113.png" Type="http://schemas.openxmlformats.org/officeDocument/2006/relationships/image"/><Relationship Id="rId8" Target="../media/image114.svg" Type="http://schemas.openxmlformats.org/officeDocument/2006/relationships/image"/><Relationship Id="rId9" Target="../media/image115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1.svg" Type="http://schemas.openxmlformats.org/officeDocument/2006/relationships/image"/><Relationship Id="rId11" Target="../media/image122.png" Type="http://schemas.openxmlformats.org/officeDocument/2006/relationships/image"/><Relationship Id="rId12" Target="../media/image123.png" Type="http://schemas.openxmlformats.org/officeDocument/2006/relationships/image"/><Relationship Id="rId13" Target="../media/image124.svg" Type="http://schemas.openxmlformats.org/officeDocument/2006/relationships/image"/><Relationship Id="rId14" Target="../media/image125.png" Type="http://schemas.openxmlformats.org/officeDocument/2006/relationships/image"/><Relationship Id="rId15" Target="../media/image126.svg" Type="http://schemas.openxmlformats.org/officeDocument/2006/relationships/image"/><Relationship Id="rId16" Target="../media/image127.png" Type="http://schemas.openxmlformats.org/officeDocument/2006/relationships/image"/><Relationship Id="rId17" Target="../media/image128.svg" Type="http://schemas.openxmlformats.org/officeDocument/2006/relationships/image"/><Relationship Id="rId18" Target="../media/image129.png" Type="http://schemas.openxmlformats.org/officeDocument/2006/relationships/image"/><Relationship Id="rId19" Target="../media/image130.svg" Type="http://schemas.openxmlformats.org/officeDocument/2006/relationships/image"/><Relationship Id="rId2" Target="../media/image117.pn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66.png" Type="http://schemas.openxmlformats.org/officeDocument/2006/relationships/image"/><Relationship Id="rId6" Target="../media/image26.svg" Type="http://schemas.openxmlformats.org/officeDocument/2006/relationships/image"/><Relationship Id="rId7" Target="../media/image118.png" Type="http://schemas.openxmlformats.org/officeDocument/2006/relationships/image"/><Relationship Id="rId8" Target="../media/image119.png" Type="http://schemas.openxmlformats.org/officeDocument/2006/relationships/image"/><Relationship Id="rId9" Target="../media/image120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5.png" Type="http://schemas.openxmlformats.org/officeDocument/2006/relationships/image"/><Relationship Id="rId11" Target="../media/image136.svg" Type="http://schemas.openxmlformats.org/officeDocument/2006/relationships/image"/><Relationship Id="rId12" Target="../media/image119.png" Type="http://schemas.openxmlformats.org/officeDocument/2006/relationships/image"/><Relationship Id="rId13" Target="../media/image121.svg" Type="http://schemas.openxmlformats.org/officeDocument/2006/relationships/image"/><Relationship Id="rId2" Target="../media/image131.pn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66.png" Type="http://schemas.openxmlformats.org/officeDocument/2006/relationships/image"/><Relationship Id="rId6" Target="../media/image26.svg" Type="http://schemas.openxmlformats.org/officeDocument/2006/relationships/image"/><Relationship Id="rId7" Target="../media/image132.png" Type="http://schemas.openxmlformats.org/officeDocument/2006/relationships/image"/><Relationship Id="rId8" Target="../media/image133.png" Type="http://schemas.openxmlformats.org/officeDocument/2006/relationships/image"/><Relationship Id="rId9" Target="../media/image134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4.svg" Type="http://schemas.openxmlformats.org/officeDocument/2006/relationships/image"/><Relationship Id="rId11" Target="../media/image141.png" Type="http://schemas.openxmlformats.org/officeDocument/2006/relationships/image"/><Relationship Id="rId12" Target="../media/image113.png" Type="http://schemas.openxmlformats.org/officeDocument/2006/relationships/image"/><Relationship Id="rId13" Target="../media/image142.png" Type="http://schemas.openxmlformats.org/officeDocument/2006/relationships/image"/><Relationship Id="rId2" Target="../media/image137.pn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25.png" Type="http://schemas.openxmlformats.org/officeDocument/2006/relationships/image"/><Relationship Id="rId6" Target="../media/image138.svg" Type="http://schemas.openxmlformats.org/officeDocument/2006/relationships/image"/><Relationship Id="rId7" Target="../media/image115.png" Type="http://schemas.openxmlformats.org/officeDocument/2006/relationships/image"/><Relationship Id="rId8" Target="../media/image139.svg" Type="http://schemas.openxmlformats.org/officeDocument/2006/relationships/image"/><Relationship Id="rId9" Target="../media/image140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8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41000"/>
          </a:blip>
          <a:stretch>
            <a:fillRect/>
          </a:stretch>
        </p:blipFill>
        <p:spPr>
          <a:xfrm rot="0">
            <a:off x="-317500" y="-12700"/>
            <a:ext cx="19037300" cy="106934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3098800" y="4406900"/>
            <a:ext cx="12204700" cy="14478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8000" b="false" i="false" u="none" strike="noStrike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>안전관제 실시간 대시보드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11811000" y="3060700"/>
            <a:ext cx="914400" cy="673100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4660900" y="3695700"/>
            <a:ext cx="8953500" cy="520700"/>
          </a:xfrm>
          <a:prstGeom prst="rect">
            <a:avLst/>
          </a:prstGeom>
        </p:spPr>
        <p:txBody>
          <a:bodyPr anchor="t" rtlCol="false" lIns="0" tIns="71120" rIns="0" bIns="0"/>
          <a:lstStyle/>
          <a:p>
            <a:pPr algn="ctr" lvl="0">
              <a:lnSpc>
                <a:spcPct val="83000"/>
              </a:lnSpc>
            </a:pPr>
            <a:r>
              <a:rPr lang="en-US" sz="2800" b="true" i="false" u="none" strike="noStrike" spc="100">
                <a:solidFill>
                  <a:srgbClr val="FD9F28"/>
                </a:solidFill>
                <a:latin typeface="Pretendard Light"/>
                <a:ea typeface="Pretendard Light"/>
                <a:cs typeface="Pretendard Light"/>
              </a:rPr>
              <a:t>THE FUTURE OF CONSTRUCTION SAFETY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136900" y="5969000"/>
            <a:ext cx="12014200" cy="5588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3000" b="false" i="false" u="none" strike="noStrike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건설현장의 내일을 바꾸는 스마트 비전 AI 관제</a:t>
            </a:r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495300" y="9207500"/>
            <a:ext cx="17297400" cy="254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3251200" y="9474200"/>
            <a:ext cx="12001500" cy="520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799" b="false" i="false" u="none" strike="noStrike">
                <a:solidFill>
                  <a:srgbClr val="9E9E9E"/>
                </a:solidFill>
                <a:latin typeface="Pretendard Bold"/>
                <a:ea typeface="Pretendard Bold"/>
                <a:cs typeface="Pretendard Bold"/>
              </a:rPr>
              <a:t>이승현 임경현 김민경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44600" y="76200"/>
            <a:ext cx="3009900" cy="444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403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K-뉴딜</a:t>
            </a:r>
            <a:r>
              <a:rPr lang="en-US" sz="2403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 Vision Ai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-63500" y="38100"/>
            <a:ext cx="1536700" cy="520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742" b="tru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2742" b="tru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OSCO</a:t>
            </a:r>
          </a:p>
        </p:txBody>
      </p:sp>
      <p:pic>
        <p:nvPicPr>
          <p:cNvPr name="Picture 11" id="11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-5400000">
            <a:off x="1206500" y="279400"/>
            <a:ext cx="419100" cy="38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28600" y="1346200"/>
            <a:ext cx="1866900" cy="1282700"/>
          </a:xfrm>
          <a:prstGeom prst="rect">
            <a:avLst/>
          </a:prstGeom>
        </p:spPr>
        <p:txBody>
          <a:bodyPr anchor="t" rtlCol="false" lIns="0" tIns="143320" rIns="0" bIns="0"/>
          <a:lstStyle/>
          <a:p>
            <a:pPr algn="l" lvl="0">
              <a:lnSpc>
                <a:spcPct val="85490"/>
              </a:lnSpc>
            </a:pPr>
            <a:r>
              <a:rPr lang="en-US" sz="7096" b="false" i="false" u="none" strike="noStrike" cap="all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목차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>
            <a:off x="4013200" y="-12700"/>
            <a:ext cx="14541500" cy="109093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>
            <a:off x="3975100" y="1155700"/>
            <a:ext cx="14668500" cy="38100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5638800" y="4546600"/>
            <a:ext cx="3810000" cy="1003300"/>
          </a:xfrm>
          <a:prstGeom prst="rect">
            <a:avLst/>
          </a:prstGeom>
        </p:spPr>
        <p:txBody>
          <a:bodyPr anchor="t" rtlCol="false" lIns="0" tIns="69850" rIns="0" bIns="0"/>
          <a:lstStyle/>
          <a:p>
            <a:pPr algn="l" lvl="0">
              <a:lnSpc>
                <a:spcPct val="99600"/>
              </a:lnSpc>
            </a:pPr>
            <a:r>
              <a:rPr lang="en-US" sz="5500" b="false" i="false" u="none" strike="noStrike" spc="-3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VISION AI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638800" y="5511800"/>
            <a:ext cx="4191000" cy="406400"/>
          </a:xfrm>
          <a:prstGeom prst="rect">
            <a:avLst/>
          </a:prstGeom>
        </p:spPr>
        <p:txBody>
          <a:bodyPr anchor="t" rtlCol="false" lIns="0" tIns="24101" rIns="0" bIns="0"/>
          <a:lstStyle/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>중대재해 Zero를 향한 실시간 통제체계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724400" y="4927600"/>
            <a:ext cx="863600" cy="596900"/>
          </a:xfrm>
          <a:prstGeom prst="rect">
            <a:avLst/>
          </a:prstGeom>
        </p:spPr>
        <p:txBody>
          <a:bodyPr anchor="t" rtlCol="false" lIns="0" tIns="36947" rIns="0" bIns="0"/>
          <a:lstStyle/>
          <a:p>
            <a:pPr algn="ctr" lvl="0">
              <a:lnSpc>
                <a:spcPct val="99600"/>
              </a:lnSpc>
            </a:pPr>
            <a:r>
              <a:rPr lang="en-US" sz="3228" b="false" i="false" u="none" strike="noStrike" spc="1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02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4432300" y="5105400"/>
            <a:ext cx="254000" cy="2540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11303000" y="2438400"/>
            <a:ext cx="863600" cy="596900"/>
          </a:xfrm>
          <a:prstGeom prst="rect">
            <a:avLst/>
          </a:prstGeom>
        </p:spPr>
        <p:txBody>
          <a:bodyPr anchor="t" rtlCol="false" lIns="0" tIns="36947" rIns="0" bIns="0"/>
          <a:lstStyle/>
          <a:p>
            <a:pPr algn="ctr" lvl="0">
              <a:lnSpc>
                <a:spcPct val="99600"/>
              </a:lnSpc>
            </a:pPr>
            <a:r>
              <a:rPr lang="en-US" sz="3228" b="false" i="false" u="none" strike="noStrike" spc="1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04</a:t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10998200" y="2603500"/>
            <a:ext cx="254000" cy="254000"/>
          </a:xfrm>
          <a:prstGeom prst="rect">
            <a:avLst/>
          </a:prstGeom>
        </p:spPr>
      </p:pic>
      <p:sp>
        <p:nvSpPr>
          <p:cNvPr name="TextBox 11" id="11"/>
          <p:cNvSpPr txBox="true"/>
          <p:nvPr/>
        </p:nvSpPr>
        <p:spPr>
          <a:xfrm rot="0">
            <a:off x="12242800" y="1981200"/>
            <a:ext cx="5664200" cy="1003300"/>
          </a:xfrm>
          <a:prstGeom prst="rect">
            <a:avLst/>
          </a:prstGeom>
        </p:spPr>
        <p:txBody>
          <a:bodyPr anchor="t" rtlCol="false" lIns="0" tIns="69850" rIns="0" bIns="0"/>
          <a:lstStyle/>
          <a:p>
            <a:pPr algn="l" lvl="0">
              <a:lnSpc>
                <a:spcPct val="99600"/>
              </a:lnSpc>
            </a:pPr>
            <a:r>
              <a:rPr lang="en-US" sz="5499" b="false" i="false" u="none" strike="noStrike" spc="-3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기술 스택 및 DB 구조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242800" y="2908300"/>
            <a:ext cx="4191000" cy="406400"/>
          </a:xfrm>
          <a:prstGeom prst="rect">
            <a:avLst/>
          </a:prstGeom>
        </p:spPr>
        <p:txBody>
          <a:bodyPr anchor="t" rtlCol="false" lIns="0" tIns="24101" rIns="0" bIns="0"/>
          <a:lstStyle/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>사용 기술 및 데이터 흐름도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689600" y="7175500"/>
            <a:ext cx="5676900" cy="1003300"/>
          </a:xfrm>
          <a:prstGeom prst="rect">
            <a:avLst/>
          </a:prstGeom>
        </p:spPr>
        <p:txBody>
          <a:bodyPr anchor="t" rtlCol="false" lIns="0" tIns="69850" rIns="0" bIns="0"/>
          <a:lstStyle/>
          <a:p>
            <a:pPr algn="l" lvl="0">
              <a:lnSpc>
                <a:spcPct val="99600"/>
              </a:lnSpc>
            </a:pPr>
            <a:r>
              <a:rPr lang="en-US" sz="5499" b="false" i="false" u="none" strike="noStrike" spc="-3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핵심기능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689600" y="8089900"/>
            <a:ext cx="4191000" cy="406400"/>
          </a:xfrm>
          <a:prstGeom prst="rect">
            <a:avLst/>
          </a:prstGeom>
        </p:spPr>
        <p:txBody>
          <a:bodyPr anchor="t" rtlCol="false" lIns="0" tIns="24101" rIns="0" bIns="0"/>
          <a:lstStyle/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>현장의 위험 경보 감지 및 관제 프로세스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724400" y="7531100"/>
            <a:ext cx="863600" cy="596900"/>
          </a:xfrm>
          <a:prstGeom prst="rect">
            <a:avLst/>
          </a:prstGeom>
        </p:spPr>
        <p:txBody>
          <a:bodyPr anchor="t" rtlCol="false" lIns="0" tIns="36947" rIns="0" bIns="0"/>
          <a:lstStyle/>
          <a:p>
            <a:pPr algn="ctr" lvl="0">
              <a:lnSpc>
                <a:spcPct val="99600"/>
              </a:lnSpc>
            </a:pPr>
            <a:r>
              <a:rPr lang="en-US" sz="3228" b="false" i="false" u="none" strike="noStrike" spc="1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03</a:t>
            </a:r>
          </a:p>
        </p:txBody>
      </p:sp>
      <p:pic>
        <p:nvPicPr>
          <p:cNvPr name="Picture 16" id="16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>
            <a:off x="4432300" y="7696200"/>
            <a:ext cx="254000" cy="254000"/>
          </a:xfrm>
          <a:prstGeom prst="rect">
            <a:avLst/>
          </a:prstGeom>
        </p:spPr>
      </p:pic>
      <p:sp>
        <p:nvSpPr>
          <p:cNvPr name="TextBox 17" id="17"/>
          <p:cNvSpPr txBox="true"/>
          <p:nvPr/>
        </p:nvSpPr>
        <p:spPr>
          <a:xfrm rot="0">
            <a:off x="12319000" y="4483100"/>
            <a:ext cx="2717800" cy="1003300"/>
          </a:xfrm>
          <a:prstGeom prst="rect">
            <a:avLst/>
          </a:prstGeom>
        </p:spPr>
        <p:txBody>
          <a:bodyPr anchor="t" rtlCol="false" lIns="0" tIns="69850" rIns="0" bIns="0"/>
          <a:lstStyle/>
          <a:p>
            <a:pPr algn="l" lvl="0">
              <a:lnSpc>
                <a:spcPct val="99600"/>
              </a:lnSpc>
            </a:pPr>
            <a:r>
              <a:rPr lang="en-US" sz="5500" b="false" i="false" u="none" strike="noStrike" spc="-3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기대 효과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319000" y="5410200"/>
            <a:ext cx="4191000" cy="406400"/>
          </a:xfrm>
          <a:prstGeom prst="rect">
            <a:avLst/>
          </a:prstGeom>
        </p:spPr>
        <p:txBody>
          <a:bodyPr anchor="t" rtlCol="false" lIns="0" tIns="24101" rIns="0" bIns="0"/>
          <a:lstStyle/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>사고를 사전에 차단하는 체계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303000" y="4838700"/>
            <a:ext cx="863600" cy="596900"/>
          </a:xfrm>
          <a:prstGeom prst="rect">
            <a:avLst/>
          </a:prstGeom>
        </p:spPr>
        <p:txBody>
          <a:bodyPr anchor="t" rtlCol="false" lIns="0" tIns="36947" rIns="0" bIns="0"/>
          <a:lstStyle/>
          <a:p>
            <a:pPr algn="ctr" lvl="0">
              <a:lnSpc>
                <a:spcPct val="99600"/>
              </a:lnSpc>
            </a:pPr>
            <a:r>
              <a:rPr lang="en-US" sz="3228" b="false" i="false" u="none" strike="noStrike" spc="1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06</a:t>
            </a:r>
          </a:p>
        </p:txBody>
      </p:sp>
      <p:pic>
        <p:nvPicPr>
          <p:cNvPr name="Picture 20" id="20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10998200" y="4978400"/>
            <a:ext cx="254000" cy="254000"/>
          </a:xfrm>
          <a:prstGeom prst="rect">
            <a:avLst/>
          </a:prstGeom>
        </p:spPr>
      </p:pic>
      <p:sp>
        <p:nvSpPr>
          <p:cNvPr name="TextBox 21" id="21"/>
          <p:cNvSpPr txBox="true"/>
          <p:nvPr/>
        </p:nvSpPr>
        <p:spPr>
          <a:xfrm rot="0">
            <a:off x="4737100" y="2489200"/>
            <a:ext cx="850900" cy="596900"/>
          </a:xfrm>
          <a:prstGeom prst="rect">
            <a:avLst/>
          </a:prstGeom>
        </p:spPr>
        <p:txBody>
          <a:bodyPr anchor="t" rtlCol="false" lIns="0" tIns="36947" rIns="0" bIns="0"/>
          <a:lstStyle/>
          <a:p>
            <a:pPr algn="ctr" lvl="0">
              <a:lnSpc>
                <a:spcPct val="99600"/>
              </a:lnSpc>
            </a:pPr>
            <a:r>
              <a:rPr lang="en-US" sz="3228" b="false" i="false" u="none" strike="noStrike" spc="1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01</a:t>
            </a:r>
          </a:p>
        </p:txBody>
      </p:sp>
      <p:pic>
        <p:nvPicPr>
          <p:cNvPr name="Picture 22" id="22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4432300" y="2654300"/>
            <a:ext cx="254000" cy="254000"/>
          </a:xfrm>
          <a:prstGeom prst="rect">
            <a:avLst/>
          </a:prstGeom>
        </p:spPr>
      </p:pic>
      <p:sp>
        <p:nvSpPr>
          <p:cNvPr name="TextBox 23" id="23"/>
          <p:cNvSpPr txBox="true"/>
          <p:nvPr/>
        </p:nvSpPr>
        <p:spPr>
          <a:xfrm rot="0">
            <a:off x="5638800" y="2032000"/>
            <a:ext cx="4864100" cy="1003300"/>
          </a:xfrm>
          <a:prstGeom prst="rect">
            <a:avLst/>
          </a:prstGeom>
        </p:spPr>
        <p:txBody>
          <a:bodyPr anchor="t" rtlCol="false" lIns="0" tIns="69850" rIns="0" bIns="0"/>
          <a:lstStyle/>
          <a:p>
            <a:pPr algn="l" lvl="0">
              <a:lnSpc>
                <a:spcPct val="99600"/>
              </a:lnSpc>
            </a:pPr>
            <a:r>
              <a:rPr lang="en-US" sz="5499" b="false" i="false" u="none" strike="noStrike" spc="-3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추진배경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689600" y="2997200"/>
            <a:ext cx="4191000" cy="711200"/>
          </a:xfrm>
          <a:prstGeom prst="rect">
            <a:avLst/>
          </a:prstGeom>
        </p:spPr>
        <p:txBody>
          <a:bodyPr anchor="t" rtlCol="false" lIns="0" tIns="24101" rIns="0" bIns="0"/>
          <a:lstStyle/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>건설현장을 선택한 이유</a:t>
            </a:r>
          </a:p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/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44600" y="76200"/>
            <a:ext cx="3009900" cy="444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403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K-뉴딜</a:t>
            </a:r>
            <a:r>
              <a:rPr lang="en-US" sz="2403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 Vision Ai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-63500" y="38100"/>
            <a:ext cx="1536700" cy="520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742" b="tru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2742" b="tru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OSCO</a:t>
            </a:r>
          </a:p>
        </p:txBody>
      </p:sp>
      <p:pic>
        <p:nvPicPr>
          <p:cNvPr name="Picture 27" id="27"/>
          <p:cNvPicPr>
            <a:picLocks noChangeAspect="true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-5400000">
            <a:off x="1206500" y="279400"/>
            <a:ext cx="419100" cy="38100"/>
          </a:xfrm>
          <a:prstGeom prst="rect">
            <a:avLst/>
          </a:prstGeom>
        </p:spPr>
      </p:pic>
      <p:sp>
        <p:nvSpPr>
          <p:cNvPr name="TextBox 28" id="28"/>
          <p:cNvSpPr txBox="true"/>
          <p:nvPr/>
        </p:nvSpPr>
        <p:spPr>
          <a:xfrm rot="0">
            <a:off x="12319000" y="7162800"/>
            <a:ext cx="4025900" cy="1003300"/>
          </a:xfrm>
          <a:prstGeom prst="rect">
            <a:avLst/>
          </a:prstGeom>
        </p:spPr>
        <p:txBody>
          <a:bodyPr anchor="t" rtlCol="false" lIns="0" tIns="69850" rIns="0" bIns="0"/>
          <a:lstStyle/>
          <a:p>
            <a:pPr algn="l" lvl="0">
              <a:lnSpc>
                <a:spcPct val="99600"/>
              </a:lnSpc>
            </a:pPr>
            <a:r>
              <a:rPr lang="en-US" sz="5499" b="false" i="false" u="none" strike="noStrike" spc="-3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한계 및 개선점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319000" y="8089900"/>
            <a:ext cx="4191000" cy="406400"/>
          </a:xfrm>
          <a:prstGeom prst="rect">
            <a:avLst/>
          </a:prstGeom>
        </p:spPr>
        <p:txBody>
          <a:bodyPr anchor="t" rtlCol="false" lIns="0" tIns="24101" rIns="0" bIns="0"/>
          <a:lstStyle/>
          <a:p>
            <a:pPr algn="l" lvl="0">
              <a:lnSpc>
                <a:spcPct val="99600"/>
              </a:lnSpc>
            </a:pPr>
            <a:r>
              <a:rPr lang="en-US" sz="2106" b="false" i="false" u="none" strike="noStrike" spc="-200">
                <a:solidFill>
                  <a:srgbClr val="595959">
                    <a:alpha val="67059"/>
                  </a:srgbClr>
                </a:solidFill>
                <a:latin typeface="Pretendard Light"/>
                <a:ea typeface="Pretendard Light"/>
                <a:cs typeface="Pretendard Light"/>
              </a:rPr>
              <a:t>프로젝트 중 느낀 한계점과 미래논의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303000" y="7518400"/>
            <a:ext cx="863600" cy="596900"/>
          </a:xfrm>
          <a:prstGeom prst="rect">
            <a:avLst/>
          </a:prstGeom>
        </p:spPr>
        <p:txBody>
          <a:bodyPr anchor="t" rtlCol="false" lIns="0" tIns="36947" rIns="0" bIns="0"/>
          <a:lstStyle/>
          <a:p>
            <a:pPr algn="ctr" lvl="0">
              <a:lnSpc>
                <a:spcPct val="99600"/>
              </a:lnSpc>
            </a:pPr>
            <a:r>
              <a:rPr lang="en-US" sz="3228" b="false" i="false" u="none" strike="noStrike" spc="100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07</a:t>
            </a:r>
          </a:p>
        </p:txBody>
      </p:sp>
      <p:pic>
        <p:nvPicPr>
          <p:cNvPr name="Picture 31" id="31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10998200" y="7658100"/>
            <a:ext cx="2540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099800" y="15748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52400" y="99314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908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355600" y="2044700"/>
            <a:ext cx="18808700" cy="635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6446500" y="139700"/>
            <a:ext cx="1447800" cy="19558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368300" y="2692400"/>
            <a:ext cx="8255000" cy="558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3000" b="false" i="false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산재 사망 1위 업종, </a:t>
            </a:r>
            <a:r>
              <a:rPr lang="en-US" sz="3000" b="false" i="false" u="none" strike="noStrike">
                <a:solidFill>
                  <a:srgbClr val="FC3030"/>
                </a:solidFill>
                <a:latin typeface="Pretendard Bold"/>
                <a:ea typeface="Pretendard Bold"/>
                <a:cs typeface="Pretendard Bold"/>
              </a:rPr>
              <a:t>건설업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368300" y="3378200"/>
            <a:ext cx="17551400" cy="64135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12992100" y="9563100"/>
            <a:ext cx="7416800" cy="342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1800" b="false" i="false" u="none" strike="noStrike">
                <a:solidFill>
                  <a:srgbClr val="9E9E9E"/>
                </a:solidFill>
                <a:latin typeface="Pretendard Bold"/>
                <a:ea typeface="Pretendard Bold"/>
                <a:cs typeface="Pretendard Bold"/>
              </a:rPr>
              <a:t>출처 : 고용노동부 중대재해 알림e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499600" y="9563100"/>
            <a:ext cx="7416800" cy="342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1800" b="false" i="false" u="none" strike="noStrike">
                <a:solidFill>
                  <a:srgbClr val="9E9E9E"/>
                </a:solidFill>
                <a:latin typeface="Pretendard Bold"/>
                <a:ea typeface="Pretendard Bold"/>
                <a:cs typeface="Pretendard Bold"/>
              </a:rPr>
              <a:t>2026년 2분기 업종·산업별 잠정통계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-571500" y="190500"/>
            <a:ext cx="62484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01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추진배경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573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건설현장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을 선택한 이유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030200" y="3606800"/>
            <a:ext cx="4457700" cy="1803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10000" b="false" i="false" u="none" strike="noStrike">
                <a:solidFill>
                  <a:srgbClr val="FC3030"/>
                </a:solidFill>
                <a:latin typeface="Pretendard Bold"/>
                <a:ea typeface="Pretendard Bold"/>
                <a:cs typeface="Pretendard Bold"/>
              </a:rPr>
              <a:t>약 47%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614400" y="5613400"/>
            <a:ext cx="2908300" cy="901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2252" b="false" i="false" u="none" strike="noStrike">
                <a:solidFill>
                  <a:srgbClr val="9E9E9E"/>
                </a:solidFill>
                <a:latin typeface="Pretendard Bold"/>
                <a:ea typeface="Pretendard Bold"/>
                <a:cs typeface="Pretendard Bold"/>
              </a:rPr>
              <a:t>사망사고 220건 중
103건이 건설업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099800" y="15748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52400" y="99314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908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12700" y="2108200"/>
            <a:ext cx="18453100" cy="635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3068300" y="2679700"/>
            <a:ext cx="4457700" cy="6375400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368300" y="9512300"/>
            <a:ext cx="9537700" cy="2921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1545" b="false" i="false" u="none" strike="noStrike">
                <a:solidFill>
                  <a:srgbClr val="9E9E9E"/>
                </a:solidFill>
                <a:latin typeface="Pretendard SemiBold"/>
                <a:ea typeface="Pretendard SemiBold"/>
                <a:cs typeface="Pretendard SemiBold"/>
              </a:rPr>
              <a:t>출처: 국토교통부·국토안전관리원, 스마트 안전장비 활용 가이드라인(2026.5) · 고용노동부 고시 제2023-11호 등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-571500" y="190500"/>
            <a:ext cx="62484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01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추진배경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-571500" y="190500"/>
            <a:ext cx="62484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01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추진배경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573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건설현장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을 선택한 이유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73100" y="2324100"/>
            <a:ext cx="11176000" cy="33401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8524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스마트 안전장비,</a:t>
            </a:r>
          </a:p>
          <a:p>
            <a:pPr algn="l" lvl="0">
              <a:lnSpc>
                <a:spcPct val="138609"/>
              </a:lnSpc>
            </a:pPr>
            <a:r>
              <a:rPr lang="en-US" sz="8524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이제 안전관리비로</a:t>
            </a:r>
          </a:p>
        </p:txBody>
      </p:sp>
      <p:pic>
        <p:nvPicPr>
          <p:cNvPr name="Picture 12" id="12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368300" y="5829300"/>
            <a:ext cx="11391900" cy="63500"/>
          </a:xfrm>
          <a:prstGeom prst="rect">
            <a:avLst/>
          </a:prstGeom>
        </p:spPr>
      </p:pic>
      <p:sp>
        <p:nvSpPr>
          <p:cNvPr name="TextBox 13" id="13"/>
          <p:cNvSpPr txBox="true"/>
          <p:nvPr/>
        </p:nvSpPr>
        <p:spPr>
          <a:xfrm rot="0">
            <a:off x="673100" y="6591300"/>
            <a:ext cx="8940800" cy="825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45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활용 가이드라인 전면 개정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73100" y="6197600"/>
            <a:ext cx="13296900" cy="406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2157" b="false" i="false" u="none" strike="noStrike">
                <a:solidFill>
                  <a:srgbClr val="9E9E9E"/>
                </a:solidFill>
                <a:latin typeface="Pretendard SemiBold"/>
                <a:ea typeface="Pretendard SemiBold"/>
                <a:cs typeface="Pretendard SemiBold"/>
              </a:rPr>
              <a:t>2026.05 · 국토교통부</a:t>
            </a: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0">
            <a:off x="368300" y="7556500"/>
            <a:ext cx="11391900" cy="63500"/>
          </a:xfrm>
          <a:prstGeom prst="rect">
            <a:avLst/>
          </a:prstGeom>
        </p:spPr>
      </p:pic>
      <p:sp>
        <p:nvSpPr>
          <p:cNvPr name="TextBox 16" id="16"/>
          <p:cNvSpPr txBox="true"/>
          <p:nvPr/>
        </p:nvSpPr>
        <p:spPr>
          <a:xfrm rot="0">
            <a:off x="673100" y="8077200"/>
            <a:ext cx="8940800" cy="825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45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안전관리비로 </a:t>
            </a:r>
            <a:r>
              <a:rPr lang="en-US" sz="4500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100% 계상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73100" y="7708900"/>
            <a:ext cx="13296900" cy="406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2157" b="false" i="false" u="none" strike="noStrike">
                <a:solidFill>
                  <a:srgbClr val="FD9F28"/>
                </a:solidFill>
                <a:latin typeface="Pretendard SemiBold"/>
                <a:ea typeface="Pretendard SemiBold"/>
                <a:cs typeface="Pretendard SemiBold"/>
              </a:rPr>
              <a:t>도입비용</a:t>
            </a:r>
            <a:br>
              <a:rPr lang="en-US" sz="2157" b="false" i="false" u="none" strike="noStrike">
                <a:solidFill>
                  <a:srgbClr val="FD9F28"/>
                </a:solidFill>
                <a:latin typeface="Pretendard SemiBold"/>
                <a:ea typeface="Pretendard SemiBold"/>
                <a:cs typeface="Pretendard SemiBold"/>
              </a:rPr>
            </a:br>
          </a:p>
        </p:txBody>
      </p:sp>
      <p:pic>
        <p:nvPicPr>
          <p:cNvPr name="Picture 18" id="18"/>
          <p:cNvPicPr>
            <a:picLocks noChangeAspect="true"/>
          </p:cNvPicPr>
          <p:nvPr/>
        </p:nvPicPr>
        <p:blipFill>
          <a:blip r:embed="rId12"/>
          <a:stretch>
            <a:fillRect/>
          </a:stretch>
        </p:blipFill>
        <p:spPr>
          <a:xfrm rot="0">
            <a:off x="16510000" y="139700"/>
            <a:ext cx="1447800" cy="1955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>
            <a:off x="-12700" y="-12700"/>
            <a:ext cx="18313400" cy="99568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>
            <a:off x="12484100" y="4368800"/>
            <a:ext cx="3949700" cy="508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584200" y="2298700"/>
            <a:ext cx="5511800" cy="71882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6388100" y="2298700"/>
            <a:ext cx="5511800" cy="71882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12192000" y="2298700"/>
            <a:ext cx="5511800" cy="71882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596900" y="3302000"/>
            <a:ext cx="5511800" cy="508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6400800" y="3327400"/>
            <a:ext cx="5511800" cy="508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977900" y="6578600"/>
            <a:ext cx="4711700" cy="1016000"/>
          </a:xfrm>
          <a:prstGeom prst="rect">
            <a:avLst/>
          </a:prstGeom>
        </p:spPr>
        <p:txBody>
          <a:bodyPr anchor="ctr" rtlCol="false" lIns="0" tIns="38100" rIns="0" bIns="38100"/>
          <a:lstStyle/>
          <a:p>
            <a:pPr algn="ctr" lvl="0">
              <a:lnSpc>
                <a:spcPct val="99600"/>
              </a:lnSpc>
            </a:pPr>
            <a:r>
              <a:rPr lang="en-US" sz="3000" b="false" i="false" u="none" strike="noStrike">
                <a:solidFill>
                  <a:srgbClr val="595959"/>
                </a:solidFill>
                <a:latin typeface="Pretendard Bold"/>
                <a:ea typeface="Pretendard Bold"/>
                <a:cs typeface="Pretendard Bold"/>
              </a:rPr>
              <a:t>AI가 위험 요소를 즉시</a:t>
            </a:r>
          </a:p>
          <a:p>
            <a:pPr algn="ctr" lvl="0">
              <a:lnSpc>
                <a:spcPct val="99600"/>
              </a:lnSpc>
            </a:pPr>
            <a:r>
              <a:rPr lang="en-US" sz="3000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감지, 포착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35100" y="4279900"/>
            <a:ext cx="3962400" cy="825500"/>
          </a:xfrm>
          <a:prstGeom prst="rect">
            <a:avLst/>
          </a:prstGeom>
        </p:spPr>
        <p:txBody>
          <a:bodyPr anchor="ctr" rtlCol="false" lIns="0" tIns="57150" rIns="0" bIns="57150"/>
          <a:lstStyle/>
          <a:p>
            <a:pPr algn="l" lvl="0">
              <a:lnSpc>
                <a:spcPct val="99600"/>
              </a:lnSpc>
            </a:pPr>
            <a:r>
              <a:rPr lang="en-US" sz="4500" b="false" i="false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실시간 위험 감지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654800" y="6578600"/>
            <a:ext cx="4978400" cy="1016000"/>
          </a:xfrm>
          <a:prstGeom prst="rect">
            <a:avLst/>
          </a:prstGeom>
        </p:spPr>
        <p:txBody>
          <a:bodyPr anchor="ctr" rtlCol="false" lIns="0" tIns="38100" rIns="0" bIns="38100"/>
          <a:lstStyle/>
          <a:p>
            <a:pPr algn="ctr" lvl="0">
              <a:lnSpc>
                <a:spcPct val="99600"/>
              </a:lnSpc>
            </a:pPr>
            <a:r>
              <a:rPr lang="en-US" sz="3000" b="false" i="false" u="none" strike="noStrike">
                <a:solidFill>
                  <a:srgbClr val="595959"/>
                </a:solidFill>
                <a:latin typeface="Pretendard Bold"/>
                <a:ea typeface="Pretendard Bold"/>
                <a:cs typeface="Pretendard Bold"/>
              </a:rPr>
              <a:t>관리자 · 작업자가 같은 화면으로</a:t>
            </a:r>
            <a:r>
              <a:rPr lang="en-US" sz="3000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 실시간 공유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731000" y="4279900"/>
            <a:ext cx="5130800" cy="825500"/>
          </a:xfrm>
          <a:prstGeom prst="rect">
            <a:avLst/>
          </a:prstGeom>
        </p:spPr>
        <p:txBody>
          <a:bodyPr anchor="ctr" rtlCol="false" lIns="0" tIns="57150" rIns="0" bIns="57150"/>
          <a:lstStyle/>
          <a:p>
            <a:pPr algn="l" lvl="0">
              <a:lnSpc>
                <a:spcPct val="99600"/>
              </a:lnSpc>
            </a:pPr>
            <a:r>
              <a:rPr lang="en-US" sz="4500" b="false" i="false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현장 정보 실시간 공유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598400" y="6807200"/>
            <a:ext cx="4711700" cy="558800"/>
          </a:xfrm>
          <a:prstGeom prst="rect">
            <a:avLst/>
          </a:prstGeom>
        </p:spPr>
        <p:txBody>
          <a:bodyPr anchor="ctr" rtlCol="false" lIns="0" tIns="38100" rIns="0" bIns="38100"/>
          <a:lstStyle/>
          <a:p>
            <a:pPr algn="ctr" lvl="0">
              <a:lnSpc>
                <a:spcPct val="99600"/>
              </a:lnSpc>
            </a:pPr>
            <a:r>
              <a:rPr lang="en-US" sz="3000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사용자의 목적 지향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446000" y="4279900"/>
            <a:ext cx="5168900" cy="825500"/>
          </a:xfrm>
          <a:prstGeom prst="rect">
            <a:avLst/>
          </a:prstGeom>
        </p:spPr>
        <p:txBody>
          <a:bodyPr anchor="ctr" rtlCol="false" lIns="0" tIns="57150" rIns="0" bIns="57150"/>
          <a:lstStyle/>
          <a:p>
            <a:pPr algn="l" lvl="0">
              <a:lnSpc>
                <a:spcPct val="99600"/>
              </a:lnSpc>
            </a:pPr>
            <a:r>
              <a:rPr lang="en-US" sz="4500" b="false" i="false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고위험 작업 맞춤 관제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41400" y="2565400"/>
            <a:ext cx="4699000" cy="558800"/>
          </a:xfrm>
          <a:prstGeom prst="rect">
            <a:avLst/>
          </a:prstGeom>
        </p:spPr>
        <p:txBody>
          <a:bodyPr anchor="ctr" rtlCol="false" lIns="0" tIns="38099" rIns="0" bIns="38099"/>
          <a:lstStyle/>
          <a:p>
            <a:pPr algn="l" lvl="0">
              <a:lnSpc>
                <a:spcPct val="99600"/>
              </a:lnSpc>
            </a:pPr>
            <a:r>
              <a:rPr lang="en-US" sz="2999" b="true" i="false" u="none" strike="noStrike">
                <a:solidFill>
                  <a:srgbClr val="C2C2C2"/>
                </a:solidFill>
                <a:latin typeface="Pretendard Bold"/>
                <a:ea typeface="Pretendard Bold"/>
                <a:cs typeface="Pretendard Bold"/>
              </a:rPr>
              <a:t>VISION 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845300" y="2565400"/>
            <a:ext cx="4699000" cy="558800"/>
          </a:xfrm>
          <a:prstGeom prst="rect">
            <a:avLst/>
          </a:prstGeom>
        </p:spPr>
        <p:txBody>
          <a:bodyPr anchor="ctr" rtlCol="false" lIns="0" tIns="38099" rIns="0" bIns="38099"/>
          <a:lstStyle/>
          <a:p>
            <a:pPr algn="l" lvl="0">
              <a:lnSpc>
                <a:spcPct val="99600"/>
              </a:lnSpc>
            </a:pPr>
            <a:r>
              <a:rPr lang="en-US" sz="2999" b="true" i="false" u="none" strike="noStrike">
                <a:solidFill>
                  <a:srgbClr val="C2C2C2"/>
                </a:solidFill>
                <a:latin typeface="Pretendard Bold"/>
                <a:ea typeface="Pretendard Bold"/>
                <a:cs typeface="Pretendard Bold"/>
              </a:rPr>
              <a:t>VISION 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712700" y="2565400"/>
            <a:ext cx="4699000" cy="558800"/>
          </a:xfrm>
          <a:prstGeom prst="rect">
            <a:avLst/>
          </a:prstGeom>
        </p:spPr>
        <p:txBody>
          <a:bodyPr anchor="ctr" rtlCol="false" lIns="0" tIns="38099" rIns="0" bIns="38099"/>
          <a:lstStyle/>
          <a:p>
            <a:pPr algn="l" lvl="0">
              <a:lnSpc>
                <a:spcPct val="99600"/>
              </a:lnSpc>
            </a:pPr>
            <a:r>
              <a:rPr lang="en-US" sz="2999" b="true" i="false" u="none" strike="noStrike">
                <a:solidFill>
                  <a:srgbClr val="C2C2C2"/>
                </a:solidFill>
                <a:latin typeface="Pretendard Bold"/>
                <a:ea typeface="Pretendard Bold"/>
                <a:cs typeface="Pretendard Bold"/>
              </a:rPr>
              <a:t>VISION 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52781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-12700" y="190500"/>
            <a:ext cx="62484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02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VISION AI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319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중대재해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z</a:t>
            </a:r>
            <a:r>
              <a:rPr lang="en-US" sz="2417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ero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를 향한 실시간 통제 체계</a:t>
            </a:r>
            <a:b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</a:br>
          </a:p>
        </p:txBody>
      </p:sp>
      <p:pic>
        <p:nvPicPr>
          <p:cNvPr name="Picture 21" id="21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12255500" y="3340100"/>
            <a:ext cx="5511800" cy="50800"/>
          </a:xfrm>
          <a:prstGeom prst="rect">
            <a:avLst/>
          </a:prstGeom>
        </p:spPr>
      </p:pic>
      <p:pic>
        <p:nvPicPr>
          <p:cNvPr name="Picture 22" id="22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15989300" y="190500"/>
            <a:ext cx="1701800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239500" y="14986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2700" y="9931400"/>
            <a:ext cx="18592800" cy="3683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16243300" y="76200"/>
            <a:ext cx="1676400" cy="21717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>
            <a:off x="939800" y="4902200"/>
            <a:ext cx="4025900" cy="1905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927100" y="6210300"/>
            <a:ext cx="4025900" cy="508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927100" y="6972300"/>
            <a:ext cx="4025900" cy="508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1536700" y="6299200"/>
            <a:ext cx="2959100" cy="609600"/>
          </a:xfrm>
          <a:prstGeom prst="rect">
            <a:avLst/>
          </a:prstGeom>
        </p:spPr>
        <p:txBody>
          <a:bodyPr anchor="ctr" rtlCol="false" lIns="0" tIns="41909" rIns="0" bIns="41909"/>
          <a:lstStyle/>
          <a:p>
            <a:pPr algn="l" lvl="0">
              <a:lnSpc>
                <a:spcPct val="99600"/>
              </a:lnSpc>
            </a:pPr>
            <a:r>
              <a:rPr lang="en-US" sz="3299" b="tru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YOLO</a:t>
            </a:r>
            <a:r>
              <a:rPr lang="en-US" sz="3299" b="tru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 </a:t>
            </a:r>
            <a:r>
              <a:rPr lang="en-US" sz="3299" b="true" i="false" u="none" strike="noStrike">
                <a:solidFill>
                  <a:srgbClr val="1F375D"/>
                </a:solidFill>
                <a:latin typeface="Pretendard SemiBold"/>
                <a:ea typeface="Pretendard SemiBold"/>
                <a:cs typeface="Pretendard SemiBold"/>
              </a:rPr>
              <a:t>객체감지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97000" y="5194300"/>
            <a:ext cx="3302000" cy="914400"/>
          </a:xfrm>
          <a:prstGeom prst="rect">
            <a:avLst/>
          </a:prstGeom>
        </p:spPr>
        <p:txBody>
          <a:bodyPr anchor="ctr" rtlCol="false" lIns="0" tIns="63500" rIns="0" bIns="63500"/>
          <a:lstStyle/>
          <a:p>
            <a:pPr algn="l" lvl="0">
              <a:lnSpc>
                <a:spcPct val="99600"/>
              </a:lnSpc>
            </a:pPr>
            <a:r>
              <a:rPr lang="en-US" sz="4999" b="false" i="tru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Detection</a:t>
            </a:r>
            <a:r>
              <a:rPr lang="en-US" sz="4999" b="false" i="true" u="none" strike="noStrike">
                <a:solidFill>
                  <a:srgbClr val="002E79"/>
                </a:solidFill>
                <a:latin typeface="Pretendard SemiBold"/>
                <a:ea typeface="Pretendard SemiBold"/>
                <a:cs typeface="Pretendard SemiBold"/>
              </a:rPr>
              <a:t/>
            </a:r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0">
            <a:off x="5168900" y="4889500"/>
            <a:ext cx="4025900" cy="1905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0">
            <a:off x="5168900" y="6197600"/>
            <a:ext cx="4025900" cy="508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0">
            <a:off x="5168900" y="6959600"/>
            <a:ext cx="4025900" cy="508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17"/>
          <a:stretch>
            <a:fillRect/>
          </a:stretch>
        </p:blipFill>
        <p:spPr>
          <a:xfrm rot="0">
            <a:off x="6070600" y="6286500"/>
            <a:ext cx="2387600" cy="622300"/>
          </a:xfrm>
          <a:prstGeom prst="rect">
            <a:avLst/>
          </a:prstGeom>
        </p:spPr>
      </p:pic>
      <p:sp>
        <p:nvSpPr>
          <p:cNvPr name="TextBox 14" id="14"/>
          <p:cNvSpPr txBox="true"/>
          <p:nvPr/>
        </p:nvSpPr>
        <p:spPr>
          <a:xfrm rot="0">
            <a:off x="6464300" y="5181600"/>
            <a:ext cx="1803400" cy="914400"/>
          </a:xfrm>
          <a:prstGeom prst="rect">
            <a:avLst/>
          </a:prstGeom>
        </p:spPr>
        <p:txBody>
          <a:bodyPr anchor="ctr" rtlCol="false" lIns="0" tIns="63500" rIns="0" bIns="63500"/>
          <a:lstStyle/>
          <a:p>
            <a:pPr algn="l" lvl="0">
              <a:lnSpc>
                <a:spcPct val="99600"/>
              </a:lnSpc>
            </a:pPr>
            <a:r>
              <a:rPr lang="en-US" sz="4999" b="false" i="tru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Zone</a:t>
            </a: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0">
            <a:off x="9398000" y="4889500"/>
            <a:ext cx="4025900" cy="190500"/>
          </a:xfrm>
          <a:prstGeom prst="rect">
            <a:avLst/>
          </a:prstGeom>
        </p:spPr>
      </p:pic>
      <p:pic>
        <p:nvPicPr>
          <p:cNvPr name="Picture 16" id="16"/>
          <p:cNvPicPr>
            <a:picLocks noChangeAspect="true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rot="0">
            <a:off x="9385300" y="6197600"/>
            <a:ext cx="4025900" cy="50800"/>
          </a:xfrm>
          <a:prstGeom prst="rect">
            <a:avLst/>
          </a:prstGeom>
        </p:spPr>
      </p:pic>
      <p:pic>
        <p:nvPicPr>
          <p:cNvPr name="Picture 17" id="17"/>
          <p:cNvPicPr>
            <a:picLocks noChangeAspect="true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0">
            <a:off x="9398000" y="6959600"/>
            <a:ext cx="4025900" cy="50800"/>
          </a:xfrm>
          <a:prstGeom prst="rect">
            <a:avLst/>
          </a:prstGeom>
        </p:spPr>
      </p:pic>
      <p:sp>
        <p:nvSpPr>
          <p:cNvPr name="TextBox 18" id="18"/>
          <p:cNvSpPr txBox="true"/>
          <p:nvPr/>
        </p:nvSpPr>
        <p:spPr>
          <a:xfrm rot="0">
            <a:off x="10591800" y="6299200"/>
            <a:ext cx="1727200" cy="609600"/>
          </a:xfrm>
          <a:prstGeom prst="rect">
            <a:avLst/>
          </a:prstGeom>
        </p:spPr>
        <p:txBody>
          <a:bodyPr anchor="ctr" rtlCol="false" lIns="0" tIns="41909" rIns="0" bIns="41909"/>
          <a:lstStyle/>
          <a:p>
            <a:pPr algn="l" lvl="0">
              <a:lnSpc>
                <a:spcPct val="99600"/>
              </a:lnSpc>
            </a:pPr>
            <a:r>
              <a:rPr lang="en-US" sz="3299" b="true" i="false" u="none" strike="noStrike">
                <a:solidFill>
                  <a:srgbClr val="1F375D"/>
                </a:solidFill>
                <a:latin typeface="Pretendard SemiBold"/>
                <a:ea typeface="Pretendard SemiBold"/>
                <a:cs typeface="Pretendard SemiBold"/>
              </a:rPr>
              <a:t>작업</a:t>
            </a:r>
            <a:r>
              <a:rPr lang="en-US" sz="3299" b="tru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 </a:t>
            </a:r>
            <a:r>
              <a:rPr lang="en-US" sz="3299" b="true" i="false" u="none" strike="noStrike">
                <a:solidFill>
                  <a:srgbClr val="0CB3F9"/>
                </a:solidFill>
                <a:latin typeface="Pretendard Bold"/>
                <a:ea typeface="Pretendard Bold"/>
                <a:cs typeface="Pretendard Bold"/>
              </a:rPr>
              <a:t>정보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388600" y="5181600"/>
            <a:ext cx="2222500" cy="914400"/>
          </a:xfrm>
          <a:prstGeom prst="rect">
            <a:avLst/>
          </a:prstGeom>
        </p:spPr>
        <p:txBody>
          <a:bodyPr anchor="ctr" rtlCol="false" lIns="0" tIns="63500" rIns="0" bIns="63500"/>
          <a:lstStyle/>
          <a:p>
            <a:pPr algn="l" lvl="0">
              <a:lnSpc>
                <a:spcPct val="99600"/>
              </a:lnSpc>
            </a:pPr>
            <a:r>
              <a:rPr lang="en-US" sz="4999" b="false" i="tru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Status</a:t>
            </a:r>
          </a:p>
        </p:txBody>
      </p:sp>
      <p:pic>
        <p:nvPicPr>
          <p:cNvPr name="Picture 20" id="20"/>
          <p:cNvPicPr>
            <a:picLocks noChangeAspect="true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rot="0">
            <a:off x="13601700" y="4889500"/>
            <a:ext cx="4025900" cy="190500"/>
          </a:xfrm>
          <a:prstGeom prst="rect">
            <a:avLst/>
          </a:prstGeom>
        </p:spPr>
      </p:pic>
      <p:pic>
        <p:nvPicPr>
          <p:cNvPr name="Picture 21" id="21"/>
          <p:cNvPicPr>
            <a:picLocks noChangeAspect="true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0">
            <a:off x="13601700" y="6197600"/>
            <a:ext cx="4025900" cy="50800"/>
          </a:xfrm>
          <a:prstGeom prst="rect">
            <a:avLst/>
          </a:prstGeom>
        </p:spPr>
      </p:pic>
      <p:pic>
        <p:nvPicPr>
          <p:cNvPr name="Picture 22" id="22"/>
          <p:cNvPicPr>
            <a:picLocks noChangeAspect="true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0">
            <a:off x="13601700" y="6959600"/>
            <a:ext cx="4025900" cy="50800"/>
          </a:xfrm>
          <a:prstGeom prst="rect">
            <a:avLst/>
          </a:prstGeom>
        </p:spPr>
      </p:pic>
      <p:pic>
        <p:nvPicPr>
          <p:cNvPr name="Picture 23" id="23"/>
          <p:cNvPicPr>
            <a:picLocks noChangeAspect="true"/>
          </p:cNvPicPr>
          <p:nvPr/>
        </p:nvPicPr>
        <p:blipFill>
          <a:blip r:embed="rId23"/>
          <a:stretch>
            <a:fillRect/>
          </a:stretch>
        </p:blipFill>
        <p:spPr>
          <a:xfrm rot="0">
            <a:off x="14859000" y="6235700"/>
            <a:ext cx="1778000" cy="698500"/>
          </a:xfrm>
          <a:prstGeom prst="rect">
            <a:avLst/>
          </a:prstGeom>
        </p:spPr>
      </p:pic>
      <p:sp>
        <p:nvSpPr>
          <p:cNvPr name="TextBox 24" id="24"/>
          <p:cNvSpPr txBox="true"/>
          <p:nvPr/>
        </p:nvSpPr>
        <p:spPr>
          <a:xfrm rot="0">
            <a:off x="14973300" y="5181600"/>
            <a:ext cx="1752600" cy="914400"/>
          </a:xfrm>
          <a:prstGeom prst="rect">
            <a:avLst/>
          </a:prstGeom>
        </p:spPr>
        <p:txBody>
          <a:bodyPr anchor="ctr" rtlCol="false" lIns="0" tIns="63500" rIns="0" bIns="63500"/>
          <a:lstStyle/>
          <a:p>
            <a:pPr algn="l" lvl="0">
              <a:lnSpc>
                <a:spcPct val="99600"/>
              </a:lnSpc>
            </a:pPr>
            <a:r>
              <a:rPr lang="en-US" sz="4999" b="false" i="tru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Alert</a:t>
            </a:r>
          </a:p>
        </p:txBody>
      </p:sp>
      <p:pic>
        <p:nvPicPr>
          <p:cNvPr name="Picture 25" id="25"/>
          <p:cNvPicPr>
            <a:picLocks noChangeAspect="true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 rot="16200000">
            <a:off x="3962400" y="5930900"/>
            <a:ext cx="2222500" cy="50800"/>
          </a:xfrm>
          <a:prstGeom prst="rect">
            <a:avLst/>
          </a:prstGeom>
        </p:spPr>
      </p:pic>
      <p:pic>
        <p:nvPicPr>
          <p:cNvPr name="Picture 26" id="26"/>
          <p:cNvPicPr>
            <a:picLocks noChangeAspect="true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 rot="16199999">
            <a:off x="12420600" y="5918200"/>
            <a:ext cx="2171700" cy="50800"/>
          </a:xfrm>
          <a:prstGeom prst="rect">
            <a:avLst/>
          </a:prstGeom>
        </p:spPr>
      </p:pic>
      <p:pic>
        <p:nvPicPr>
          <p:cNvPr name="Picture 27" id="27"/>
          <p:cNvPicPr>
            <a:picLocks noChangeAspect="true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 rot="16200000">
            <a:off x="8178800" y="5930900"/>
            <a:ext cx="2222500" cy="50800"/>
          </a:xfrm>
          <a:prstGeom prst="rect">
            <a:avLst/>
          </a:prstGeom>
        </p:spPr>
      </p:pic>
      <p:sp>
        <p:nvSpPr>
          <p:cNvPr name="TextBox 28" id="28"/>
          <p:cNvSpPr txBox="true"/>
          <p:nvPr/>
        </p:nvSpPr>
        <p:spPr>
          <a:xfrm rot="0">
            <a:off x="152781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3500" y="190500"/>
            <a:ext cx="48133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03.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 핵심기능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485900" y="1524000"/>
            <a:ext cx="6438900" cy="457200"/>
          </a:xfrm>
          <a:prstGeom prst="rect">
            <a:avLst/>
          </a:prstGeom>
        </p:spPr>
        <p:txBody>
          <a:bodyPr anchor="ctr" rtlCol="false" lIns="0" tIns="30734" rIns="0" bIns="30734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현장의 </a:t>
            </a:r>
            <a:r>
              <a:rPr lang="en-US" sz="2417" b="false" i="false" u="none" strike="noStrike" cap="all">
                <a:solidFill>
                  <a:srgbClr val="1E365B"/>
                </a:solidFill>
                <a:latin typeface="Pretendard Bold"/>
                <a:ea typeface="Pretendard Bold"/>
                <a:cs typeface="Pretendard Bold"/>
              </a:rPr>
              <a:t>위험 경보 감지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 및 </a:t>
            </a:r>
            <a:r>
              <a:rPr lang="en-US" sz="2420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관제 프로세스</a:t>
            </a:r>
          </a:p>
        </p:txBody>
      </p:sp>
      <p:pic>
        <p:nvPicPr>
          <p:cNvPr name="Picture 31" id="31"/>
          <p:cNvPicPr>
            <a:picLocks noChangeAspect="true"/>
          </p:cNvPicPr>
          <p:nvPr/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 rot="0">
            <a:off x="-152400" y="2222500"/>
            <a:ext cx="18453100" cy="6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41000"/>
          </a:blip>
          <a:stretch>
            <a:fillRect/>
          </a:stretch>
        </p:blipFill>
        <p:spPr>
          <a:xfrm rot="0">
            <a:off x="-317500" y="-12700"/>
            <a:ext cx="19037300" cy="10693400"/>
          </a:xfrm>
          <a:prstGeom prst="rect">
            <a:avLst/>
          </a:prstGeom>
        </p:spPr>
      </p:pic>
      <p:sp>
        <p:nvSpPr>
          <p:cNvPr name="TextBox 3" id="3">
            <a:hlinkClick r:id="rId3" tooltip="https://127.0.0.1:8000"/>
          </p:cNvPr>
          <p:cNvSpPr txBox="true"/>
          <p:nvPr/>
        </p:nvSpPr>
        <p:spPr>
          <a:xfrm rot="0">
            <a:off x="2019300" y="4114800"/>
            <a:ext cx="14376400" cy="2057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11419" b="false" i="false" u="none" strike="noStrike">
                <a:solidFill>
                  <a:srgbClr val="FFFFFF"/>
                </a:solidFill>
                <a:latin typeface="210 OmniGothic 050"/>
                <a:ea typeface="210 OmniGothic 050"/>
                <a:cs typeface="210 OmniGothic 050"/>
              </a:rPr>
              <a:t>실시간 대시보드 시연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44600" y="76200"/>
            <a:ext cx="3009900" cy="444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403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K-뉴딜</a:t>
            </a:r>
            <a:r>
              <a:rPr lang="en-US" sz="2403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 Vision Ai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-63500" y="38100"/>
            <a:ext cx="1536700" cy="520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742" b="tru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2742" b="tru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OSCO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660900" y="3644900"/>
            <a:ext cx="8953500" cy="520700"/>
          </a:xfrm>
          <a:prstGeom prst="rect">
            <a:avLst/>
          </a:prstGeom>
        </p:spPr>
        <p:txBody>
          <a:bodyPr anchor="t" rtlCol="false" lIns="0" tIns="71120" rIns="0" bIns="0"/>
          <a:lstStyle/>
          <a:p>
            <a:pPr algn="ctr" lvl="0">
              <a:lnSpc>
                <a:spcPct val="83000"/>
              </a:lnSpc>
            </a:pPr>
            <a:r>
              <a:rPr lang="en-US" sz="2800" b="true" i="false" u="none" strike="noStrike" spc="100">
                <a:solidFill>
                  <a:srgbClr val="FD9F28"/>
                </a:solidFill>
                <a:latin typeface="Pretendard Light"/>
                <a:ea typeface="Pretendard Light"/>
                <a:cs typeface="Pretendard Light"/>
              </a:rPr>
              <a:t>THE FUTURE OF CONSTRUCTION SAFETY</a:t>
            </a:r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>
            <a:off x="14808200" y="3530600"/>
            <a:ext cx="1041400" cy="7493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3136900" y="5880100"/>
            <a:ext cx="12014200" cy="5588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3000" b="false" i="false" u="none" strike="noStrike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건설현장의 내일을 바꾸는 스마트 비전 AI 관제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>
            <a:off x="-241300" y="-12700"/>
            <a:ext cx="18783300" cy="109093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>
            <a:off x="-12700" y="99314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781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255000" y="508000"/>
            <a:ext cx="9550400" cy="891540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711200" y="1333500"/>
            <a:ext cx="7899400" cy="35306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899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건축물과 함께</a:t>
            </a:r>
          </a:p>
          <a:p>
            <a:pPr algn="l" lvl="0">
              <a:lnSpc>
                <a:spcPct val="138609"/>
              </a:lnSpc>
            </a:pPr>
            <a:r>
              <a:rPr lang="en-US" sz="899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올라가는 카메라</a:t>
            </a:r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6200000">
            <a:off x="12979400" y="3632200"/>
            <a:ext cx="1473200" cy="8763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774700" y="254000"/>
            <a:ext cx="6515100" cy="825500"/>
          </a:xfrm>
          <a:prstGeom prst="rect">
            <a:avLst/>
          </a:prstGeom>
        </p:spPr>
        <p:txBody>
          <a:bodyPr anchor="ctr" rtlCol="false" lIns="0" tIns="57150" rIns="0" bIns="57150"/>
          <a:lstStyle/>
          <a:p>
            <a:pPr algn="l" lvl="0">
              <a:lnSpc>
                <a:spcPct val="99600"/>
              </a:lnSpc>
            </a:pPr>
            <a:r>
              <a:rPr lang="en-US" sz="4500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Cam</a:t>
            </a:r>
            <a:r>
              <a:rPr lang="en-US" sz="4500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 설치 형식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4300" y="9398000"/>
            <a:ext cx="95631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9E9E9E"/>
                </a:solidFill>
                <a:latin typeface="Pretendard SemiBold"/>
                <a:ea typeface="Pretendard SemiBold"/>
                <a:cs typeface="Pretendard SemiBold"/>
              </a:rPr>
              <a:t>출처 : Hercules Cranes SCARLET Tech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029700" y="4876800"/>
            <a:ext cx="2286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892" b="false" i="false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·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144000" y="4991100"/>
            <a:ext cx="2286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892" b="false" i="false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·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816600" y="9398000"/>
            <a:ext cx="95631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FD9F28"/>
                </a:solidFill>
                <a:latin typeface="Pretendard SemiBold"/>
                <a:ea typeface="Pretendard SemiBold"/>
                <a:cs typeface="Pretendard SemiBold"/>
              </a:rPr>
              <a:t>참고 사례 : 팀이 제작한 장비 아님</a:t>
            </a:r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215900" y="1181100"/>
            <a:ext cx="7645400" cy="63500"/>
          </a:xfrm>
          <a:prstGeom prst="rect">
            <a:avLst/>
          </a:prstGeom>
        </p:spPr>
      </p:pic>
      <p:pic>
        <p:nvPicPr>
          <p:cNvPr name="Picture 14" id="14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21599999">
            <a:off x="114300" y="5130800"/>
            <a:ext cx="7645400" cy="63500"/>
          </a:xfrm>
          <a:prstGeom prst="rect">
            <a:avLst/>
          </a:prstGeom>
        </p:spPr>
      </p:pic>
      <p:sp>
        <p:nvSpPr>
          <p:cNvPr name="TextBox 15" id="15"/>
          <p:cNvSpPr txBox="true"/>
          <p:nvPr/>
        </p:nvSpPr>
        <p:spPr>
          <a:xfrm rot="0">
            <a:off x="774700" y="5346700"/>
            <a:ext cx="71755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9E9E9E"/>
                </a:solidFill>
                <a:latin typeface="Pretendard SemiBold"/>
                <a:ea typeface="Pretendard SemiBold"/>
                <a:cs typeface="Pretendard SemiBold"/>
              </a:rPr>
              <a:t>탑 마스트  · 텔레스코핑 케이지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74700" y="5778500"/>
            <a:ext cx="3111500" cy="1003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55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넓은 화각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74700" y="7239000"/>
            <a:ext cx="71755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9E9E9E"/>
                </a:solidFill>
                <a:latin typeface="Pretendard SemiBold"/>
                <a:ea typeface="Pretendard SemiBold"/>
                <a:cs typeface="Pretendard SemiBold"/>
              </a:rPr>
              <a:t>후크 · 블록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74700" y="7670800"/>
            <a:ext cx="6184900" cy="1003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55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작업 지점 근접 촬영</a:t>
            </a:r>
          </a:p>
        </p:txBody>
      </p:sp>
      <p:pic>
        <p:nvPicPr>
          <p:cNvPr name="Picture 19" id="19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1599999">
            <a:off x="215900" y="6959600"/>
            <a:ext cx="7645400" cy="6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>
            <a:off x="-241300" y="-12700"/>
            <a:ext cx="18783300" cy="109093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>
            <a:off x="-12700" y="99314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781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31800" y="279400"/>
            <a:ext cx="6032500" cy="1003300"/>
          </a:xfrm>
          <a:prstGeom prst="rect">
            <a:avLst/>
          </a:prstGeom>
        </p:spPr>
        <p:txBody>
          <a:bodyPr anchor="ctr" rtlCol="false" lIns="0" tIns="69818" rIns="0" bIns="69818"/>
          <a:lstStyle/>
          <a:p>
            <a:pPr algn="l" lvl="0">
              <a:lnSpc>
                <a:spcPct val="99600"/>
              </a:lnSpc>
            </a:pPr>
            <a:r>
              <a:rPr lang="en-US" sz="5497" b="false" i="false" u="none" strike="noStrike" cap="all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대시보드</a:t>
            </a:r>
            <a:r>
              <a:rPr lang="en-US" sz="549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 모바일 </a:t>
            </a:r>
            <a:r>
              <a:rPr lang="en-US" sz="5497" b="false" i="false" u="none" strike="noStrike" cap="all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연동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029700" y="4876800"/>
            <a:ext cx="2286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892" b="false" i="false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·</a:t>
            </a:r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>
            <a:off x="304800" y="2463800"/>
            <a:ext cx="6692900" cy="6692900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9144000" y="4991100"/>
            <a:ext cx="228600" cy="533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892" b="false" i="false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·</a:t>
            </a:r>
          </a:p>
        </p:txBody>
      </p:sp>
      <p:pic>
        <p:nvPicPr>
          <p:cNvPr name="Picture 9" id="9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-12700" y="1892300"/>
            <a:ext cx="18338800" cy="635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7848600" y="2032000"/>
            <a:ext cx="9779000" cy="7797800"/>
          </a:xfrm>
          <a:prstGeom prst="rect">
            <a:avLst/>
          </a:prstGeom>
        </p:spPr>
      </p:pic>
      <p:sp>
        <p:nvSpPr>
          <p:cNvPr name="TextBox 11" id="11"/>
          <p:cNvSpPr txBox="true"/>
          <p:nvPr/>
        </p:nvSpPr>
        <p:spPr>
          <a:xfrm rot="0">
            <a:off x="355600" y="6896100"/>
            <a:ext cx="6604000" cy="1511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4200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관리자 웹 푸시 알림</a:t>
            </a:r>
          </a:p>
          <a:p>
            <a:pPr algn="ctr" lvl="0">
              <a:lnSpc>
                <a:spcPct val="116199"/>
              </a:lnSpc>
            </a:pPr>
            <a:r>
              <a:rPr lang="en-US" sz="42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경보 · 스냅샷 직발신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82600" y="3187700"/>
            <a:ext cx="6616700" cy="1358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75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위험 이벤트 감지</a:t>
            </a:r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5400000">
            <a:off x="2921000" y="5130800"/>
            <a:ext cx="1473200" cy="876300"/>
          </a:xfrm>
          <a:prstGeom prst="rect">
            <a:avLst/>
          </a:prstGeom>
        </p:spPr>
      </p:pic>
      <p:sp>
        <p:nvSpPr>
          <p:cNvPr name="TextBox 14" id="14"/>
          <p:cNvSpPr txBox="true"/>
          <p:nvPr/>
        </p:nvSpPr>
        <p:spPr>
          <a:xfrm rot="0">
            <a:off x="482600" y="12573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현장 밀착형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 위험 알림 시스템</a:t>
            </a: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13"/>
          <a:stretch>
            <a:fillRect/>
          </a:stretch>
        </p:blipFill>
        <p:spPr>
          <a:xfrm rot="0">
            <a:off x="16103600" y="-12700"/>
            <a:ext cx="1511300" cy="1930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>
            <a:off x="-241300" y="-12700"/>
            <a:ext cx="18783300" cy="109093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423158">
            <a:off x="11239500" y="1498600"/>
            <a:ext cx="8255000" cy="98552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12700" y="9931400"/>
            <a:ext cx="18592800" cy="368300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152781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0800" y="190500"/>
            <a:ext cx="95377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04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기술 스택 및 DB 구조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859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사용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기술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및 데이터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 흐름도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>
            <a:off x="6908800" y="3924300"/>
            <a:ext cx="4356100" cy="43561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7366000" y="4660900"/>
            <a:ext cx="3441700" cy="1003300"/>
          </a:xfrm>
          <a:prstGeom prst="rect">
            <a:avLst/>
          </a:prstGeom>
        </p:spPr>
        <p:txBody>
          <a:bodyPr anchor="ctr" rtlCol="false" lIns="0" tIns="69818" rIns="0" bIns="69818"/>
          <a:lstStyle/>
          <a:p>
            <a:pPr algn="ctr" lvl="0">
              <a:lnSpc>
                <a:spcPct val="99600"/>
              </a:lnSpc>
            </a:pPr>
            <a:r>
              <a:rPr lang="en-US" sz="5497" b="false" i="false" u="none" strike="noStrike">
                <a:solidFill>
                  <a:srgbClr val="E6AA3C"/>
                </a:solidFill>
                <a:latin typeface="Pretendard Bold"/>
                <a:ea typeface="Pretendard Bold"/>
                <a:cs typeface="Pretendard Bold"/>
              </a:rPr>
              <a:t>FrontEnd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404100" y="5727700"/>
            <a:ext cx="3365500" cy="1714500"/>
          </a:xfrm>
          <a:prstGeom prst="rect">
            <a:avLst/>
          </a:prstGeom>
        </p:spPr>
        <p:txBody>
          <a:bodyPr anchor="ctr" rtlCol="false" lIns="0" tIns="44450" rIns="0" bIns="44450"/>
          <a:lstStyle/>
          <a:p>
            <a:pPr algn="ctr" lvl="0">
              <a:lnSpc>
                <a:spcPct val="99600"/>
              </a:lnSpc>
            </a:pP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HTML/CSS</a:t>
            </a:r>
          </a:p>
          <a:p>
            <a:pPr algn="ctr" lvl="0">
              <a:lnSpc>
                <a:spcPct val="99600"/>
              </a:lnSpc>
            </a:pP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JS direct serve</a:t>
            </a:r>
          </a:p>
          <a:p>
            <a:pPr algn="ctr" lvl="0">
              <a:lnSpc>
                <a:spcPct val="99600"/>
              </a:lnSpc>
            </a:pP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Push API</a:t>
            </a:r>
          </a:p>
        </p:txBody>
      </p:sp>
      <p:pic>
        <p:nvPicPr>
          <p:cNvPr name="Picture 11" id="11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711200" y="3924300"/>
            <a:ext cx="4356100" cy="4356100"/>
          </a:xfrm>
          <a:prstGeom prst="rect">
            <a:avLst/>
          </a:prstGeom>
        </p:spPr>
      </p:pic>
      <p:sp>
        <p:nvSpPr>
          <p:cNvPr name="TextBox 12" id="12"/>
          <p:cNvSpPr txBox="true"/>
          <p:nvPr/>
        </p:nvSpPr>
        <p:spPr>
          <a:xfrm rot="0">
            <a:off x="1168400" y="4660900"/>
            <a:ext cx="3441700" cy="1003300"/>
          </a:xfrm>
          <a:prstGeom prst="rect">
            <a:avLst/>
          </a:prstGeom>
        </p:spPr>
        <p:txBody>
          <a:bodyPr anchor="ctr" rtlCol="false" lIns="0" tIns="69818" rIns="0" bIns="69818"/>
          <a:lstStyle/>
          <a:p>
            <a:pPr algn="ctr" lvl="0">
              <a:lnSpc>
                <a:spcPct val="99600"/>
              </a:lnSpc>
            </a:pPr>
            <a:r>
              <a:rPr lang="en-US" sz="5497" b="false" i="false" u="none" strike="noStrike">
                <a:solidFill>
                  <a:srgbClr val="FFCD4A"/>
                </a:solidFill>
                <a:latin typeface="Pretendard Bold"/>
                <a:ea typeface="Pretendard Bold"/>
                <a:cs typeface="Pretendard Bold"/>
              </a:rPr>
              <a:t>VISION AI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38300" y="5956300"/>
            <a:ext cx="2489200" cy="787400"/>
          </a:xfrm>
          <a:prstGeom prst="rect">
            <a:avLst/>
          </a:prstGeom>
        </p:spPr>
        <p:txBody>
          <a:bodyPr anchor="ctr" rtlCol="false" lIns="0" tIns="54578" rIns="0" bIns="54578"/>
          <a:lstStyle/>
          <a:p>
            <a:pPr algn="ctr" lvl="0">
              <a:lnSpc>
                <a:spcPct val="99600"/>
              </a:lnSpc>
            </a:pPr>
            <a:r>
              <a:rPr lang="en-US" sz="4297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Yolov8n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09700" y="6718300"/>
            <a:ext cx="2946400" cy="787400"/>
          </a:xfrm>
          <a:prstGeom prst="rect">
            <a:avLst/>
          </a:prstGeom>
        </p:spPr>
        <p:txBody>
          <a:bodyPr anchor="ctr" rtlCol="false" lIns="0" tIns="54578" rIns="0" bIns="54578"/>
          <a:lstStyle/>
          <a:p>
            <a:pPr algn="ctr" lvl="0">
              <a:lnSpc>
                <a:spcPct val="99600"/>
              </a:lnSpc>
            </a:pPr>
            <a:r>
              <a:rPr lang="en-US" sz="4297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OpenVINO</a:t>
            </a: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0">
            <a:off x="13081000" y="3924300"/>
            <a:ext cx="4356100" cy="4356100"/>
          </a:xfrm>
          <a:prstGeom prst="rect">
            <a:avLst/>
          </a:prstGeom>
        </p:spPr>
      </p:pic>
      <p:sp>
        <p:nvSpPr>
          <p:cNvPr name="TextBox 16" id="16"/>
          <p:cNvSpPr txBox="true"/>
          <p:nvPr/>
        </p:nvSpPr>
        <p:spPr>
          <a:xfrm rot="0">
            <a:off x="13538200" y="4660900"/>
            <a:ext cx="3441700" cy="1003300"/>
          </a:xfrm>
          <a:prstGeom prst="rect">
            <a:avLst/>
          </a:prstGeom>
        </p:spPr>
        <p:txBody>
          <a:bodyPr anchor="ctr" rtlCol="false" lIns="0" tIns="69818" rIns="0" bIns="69818"/>
          <a:lstStyle/>
          <a:p>
            <a:pPr algn="ctr" lvl="0">
              <a:lnSpc>
                <a:spcPct val="99600"/>
              </a:lnSpc>
            </a:pPr>
            <a:r>
              <a:rPr lang="en-US" sz="5497" b="false" i="false" u="none" strike="noStrike">
                <a:solidFill>
                  <a:srgbClr val="FFF1CC"/>
                </a:solidFill>
                <a:latin typeface="Pretendard Bold"/>
                <a:ea typeface="Pretendard Bold"/>
                <a:cs typeface="Pretendard Bold"/>
              </a:rPr>
              <a:t>BackEnd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020800" y="5956300"/>
            <a:ext cx="2489200" cy="787400"/>
          </a:xfrm>
          <a:prstGeom prst="rect">
            <a:avLst/>
          </a:prstGeom>
        </p:spPr>
        <p:txBody>
          <a:bodyPr anchor="ctr" rtlCol="false" lIns="0" tIns="54578" rIns="0" bIns="54578"/>
          <a:lstStyle/>
          <a:p>
            <a:pPr algn="ctr" lvl="0">
              <a:lnSpc>
                <a:spcPct val="99600"/>
              </a:lnSpc>
            </a:pPr>
            <a:r>
              <a:rPr lang="en-US" sz="4297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FastAPI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703300" y="6718300"/>
            <a:ext cx="3111500" cy="546100"/>
          </a:xfrm>
          <a:prstGeom prst="rect">
            <a:avLst/>
          </a:prstGeom>
        </p:spPr>
        <p:txBody>
          <a:bodyPr anchor="ctr" rtlCol="false" lIns="0" tIns="36766" rIns="0" bIns="36766"/>
          <a:lstStyle/>
          <a:p>
            <a:pPr algn="ctr" lvl="0">
              <a:lnSpc>
                <a:spcPct val="99600"/>
              </a:lnSpc>
            </a:pPr>
            <a:r>
              <a:rPr lang="en-US" sz="2895" b="false" i="false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JWT/bcrypt 보안</a:t>
            </a:r>
          </a:p>
        </p:txBody>
      </p:sp>
      <p:pic>
        <p:nvPicPr>
          <p:cNvPr name="Picture 19" id="19"/>
          <p:cNvPicPr>
            <a:picLocks noChangeAspect="true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0">
            <a:off x="-152400" y="2222500"/>
            <a:ext cx="18453100" cy="63500"/>
          </a:xfrm>
          <a:prstGeom prst="rect">
            <a:avLst/>
          </a:prstGeom>
        </p:spPr>
      </p:pic>
      <p:pic>
        <p:nvPicPr>
          <p:cNvPr name="Picture 20" id="20"/>
          <p:cNvPicPr>
            <a:picLocks noChangeAspect="true"/>
          </p:cNvPicPr>
          <p:nvPr/>
        </p:nvPicPr>
        <p:blipFill>
          <a:blip r:embed="rId15"/>
          <a:stretch>
            <a:fillRect/>
          </a:stretch>
        </p:blipFill>
        <p:spPr>
          <a:xfrm rot="0">
            <a:off x="16268700" y="114300"/>
            <a:ext cx="1701800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>
            <a:off x="-241300" y="-12700"/>
            <a:ext cx="18783300" cy="109093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423158">
            <a:off x="11239500" y="1498600"/>
            <a:ext cx="8255000" cy="98552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12700" y="9931400"/>
            <a:ext cx="18592800" cy="368300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152781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>
            <a:off x="-152400" y="2222500"/>
            <a:ext cx="18453100" cy="635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6268700" y="114300"/>
            <a:ext cx="1701800" cy="21336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0">
            <a:off x="850900" y="4597400"/>
            <a:ext cx="2984500" cy="29845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0">
            <a:off x="4254500" y="4597400"/>
            <a:ext cx="2984500" cy="29845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0">
            <a:off x="7658100" y="4597400"/>
            <a:ext cx="2984500" cy="29845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0">
            <a:off x="11049000" y="4597400"/>
            <a:ext cx="2984500" cy="29845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0">
            <a:off x="14452600" y="4597400"/>
            <a:ext cx="2984500" cy="2984500"/>
          </a:xfrm>
          <a:prstGeom prst="rect">
            <a:avLst/>
          </a:prstGeom>
        </p:spPr>
      </p:pic>
      <p:sp>
        <p:nvSpPr>
          <p:cNvPr name="TextBox 13" id="13"/>
          <p:cNvSpPr txBox="true"/>
          <p:nvPr/>
        </p:nvSpPr>
        <p:spPr>
          <a:xfrm rot="0">
            <a:off x="1168400" y="5308600"/>
            <a:ext cx="2527300" cy="787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4297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CAM 영상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89000" y="6515100"/>
            <a:ext cx="29083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CAM · 현장도면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406900" y="5308600"/>
            <a:ext cx="2844800" cy="787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4297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YOLO 감지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292600" y="6515100"/>
            <a:ext cx="29083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사람 · 장비 탐지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747000" y="5359400"/>
            <a:ext cx="2971800" cy="698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38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구역 규칙 판정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683500" y="6261100"/>
            <a:ext cx="2908300" cy="965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작업구역 · ROI</a:t>
            </a:r>
          </a:p>
          <a:p>
            <a:pPr algn="ctr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감지 규칙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264900" y="5308600"/>
            <a:ext cx="2717800" cy="787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4297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이벤트 저장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087100" y="6515100"/>
            <a:ext cx="29083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감지 이벤트 · 스냅샷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4605000" y="5359400"/>
            <a:ext cx="2819400" cy="698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38609"/>
              </a:lnSpc>
            </a:pPr>
            <a:r>
              <a:rPr lang="en-US" sz="3800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대시보드 표시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4490700" y="6515100"/>
            <a:ext cx="2908300" cy="4572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38609"/>
              </a:lnSpc>
            </a:pPr>
            <a:r>
              <a:rPr lang="en-US" sz="2415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경보 · 처리 기록</a:t>
            </a:r>
          </a:p>
        </p:txBody>
      </p:sp>
      <p:pic>
        <p:nvPicPr>
          <p:cNvPr name="Picture 23" id="23"/>
          <p:cNvPicPr>
            <a:picLocks noChangeAspect="true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rot="0">
            <a:off x="1943100" y="3403600"/>
            <a:ext cx="800100" cy="800100"/>
          </a:xfrm>
          <a:prstGeom prst="rect">
            <a:avLst/>
          </a:prstGeom>
        </p:spPr>
      </p:pic>
      <p:pic>
        <p:nvPicPr>
          <p:cNvPr name="Picture 24" id="24"/>
          <p:cNvPicPr>
            <a:picLocks noChangeAspect="true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rot="0">
            <a:off x="5346700" y="3403600"/>
            <a:ext cx="800100" cy="800100"/>
          </a:xfrm>
          <a:prstGeom prst="rect">
            <a:avLst/>
          </a:prstGeom>
        </p:spPr>
      </p:pic>
      <p:pic>
        <p:nvPicPr>
          <p:cNvPr name="Picture 25" id="25"/>
          <p:cNvPicPr>
            <a:picLocks noChangeAspect="true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rot="0">
            <a:off x="8750300" y="3390900"/>
            <a:ext cx="800100" cy="800100"/>
          </a:xfrm>
          <a:prstGeom prst="rect">
            <a:avLst/>
          </a:prstGeom>
        </p:spPr>
      </p:pic>
      <p:pic>
        <p:nvPicPr>
          <p:cNvPr name="Picture 26" id="26"/>
          <p:cNvPicPr>
            <a:picLocks noChangeAspect="true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 rot="0">
            <a:off x="12141200" y="3390900"/>
            <a:ext cx="800100" cy="800100"/>
          </a:xfrm>
          <a:prstGeom prst="rect">
            <a:avLst/>
          </a:prstGeom>
        </p:spPr>
      </p:pic>
      <p:pic>
        <p:nvPicPr>
          <p:cNvPr name="Picture 27" id="27"/>
          <p:cNvPicPr>
            <a:picLocks noChangeAspect="true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 rot="0">
            <a:off x="15570200" y="3416300"/>
            <a:ext cx="800100" cy="800100"/>
          </a:xfrm>
          <a:prstGeom prst="rect">
            <a:avLst/>
          </a:prstGeom>
        </p:spPr>
      </p:pic>
      <p:sp>
        <p:nvSpPr>
          <p:cNvPr name="TextBox 28" id="28"/>
          <p:cNvSpPr txBox="true"/>
          <p:nvPr/>
        </p:nvSpPr>
        <p:spPr>
          <a:xfrm rot="0">
            <a:off x="50800" y="190500"/>
            <a:ext cx="95377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04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기술 스택 및 DB 구조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4859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사용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기술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및 데이터 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흐름도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099800" y="15748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52400" y="99187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908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12700" y="2463800"/>
            <a:ext cx="18453100" cy="6350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-508000" y="190500"/>
            <a:ext cx="62484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4299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05</a:t>
            </a:r>
            <a:r>
              <a:rPr lang="en-US" sz="4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.</a:t>
            </a: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기대 효과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351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사고를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사전에 차단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하는 체계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60400" y="5029200"/>
            <a:ext cx="5257800" cy="977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40269"/>
              </a:lnSpc>
            </a:pPr>
            <a:r>
              <a:rPr lang="en-US" sz="5336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재해 리스크 최소화</a:t>
            </a:r>
          </a:p>
        </p:txBody>
      </p:sp>
      <p:pic>
        <p:nvPicPr>
          <p:cNvPr name="Picture 9" id="9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>
            <a:off x="558800" y="4787900"/>
            <a:ext cx="5156200" cy="50800"/>
          </a:xfrm>
          <a:prstGeom prst="rect">
            <a:avLst/>
          </a:prstGeom>
        </p:spPr>
      </p:pic>
      <p:sp>
        <p:nvSpPr>
          <p:cNvPr name="TextBox 10" id="10"/>
          <p:cNvSpPr txBox="true"/>
          <p:nvPr/>
        </p:nvSpPr>
        <p:spPr>
          <a:xfrm rot="0">
            <a:off x="1244600" y="6184900"/>
            <a:ext cx="3987800" cy="495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매일 바뀌는 건설현장에 맞춰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489700" y="5029200"/>
            <a:ext cx="5257800" cy="977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336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위험 정보 공유</a:t>
            </a:r>
          </a:p>
        </p:txBody>
      </p:sp>
      <p:pic>
        <p:nvPicPr>
          <p:cNvPr name="Picture 12" id="12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6502400" y="4787900"/>
            <a:ext cx="5156200" cy="50800"/>
          </a:xfrm>
          <a:prstGeom prst="rect">
            <a:avLst/>
          </a:prstGeom>
        </p:spPr>
      </p:pic>
      <p:sp>
        <p:nvSpPr>
          <p:cNvPr name="TextBox 13" id="13"/>
          <p:cNvSpPr txBox="true"/>
          <p:nvPr/>
        </p:nvSpPr>
        <p:spPr>
          <a:xfrm rot="0">
            <a:off x="7175500" y="6184900"/>
            <a:ext cx="3987800" cy="495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안전작업 계획과 실시간 위험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433300" y="5029200"/>
            <a:ext cx="5257800" cy="977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336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규제 대응</a:t>
            </a: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12433300" y="4787900"/>
            <a:ext cx="5156200" cy="50800"/>
          </a:xfrm>
          <a:prstGeom prst="rect">
            <a:avLst/>
          </a:prstGeom>
        </p:spPr>
      </p:pic>
      <p:sp>
        <p:nvSpPr>
          <p:cNvPr name="TextBox 16" id="16"/>
          <p:cNvSpPr txBox="true"/>
          <p:nvPr/>
        </p:nvSpPr>
        <p:spPr>
          <a:xfrm rot="0">
            <a:off x="13068300" y="6184900"/>
            <a:ext cx="3987800" cy="495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증빙 데이터 확보</a:t>
            </a:r>
          </a:p>
        </p:txBody>
      </p:sp>
      <p:pic>
        <p:nvPicPr>
          <p:cNvPr name="Picture 17" id="17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16471900" y="558800"/>
            <a:ext cx="1447800" cy="1955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417300" y="14097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52400" y="99187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908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12700" y="2463800"/>
            <a:ext cx="18453100" cy="6350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38100" y="190500"/>
            <a:ext cx="7162800" cy="1358900"/>
          </a:xfrm>
          <a:prstGeom prst="rect">
            <a:avLst/>
          </a:prstGeom>
        </p:spPr>
        <p:txBody>
          <a:bodyPr anchor="ctr" rtlCol="false" lIns="0" tIns="95250" rIns="0" bIns="95250"/>
          <a:lstStyle/>
          <a:p>
            <a:pPr algn="ctr" lvl="0">
              <a:lnSpc>
                <a:spcPct val="99600"/>
              </a:lnSpc>
            </a:pPr>
            <a:r>
              <a:rPr lang="en-US" sz="42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06.</a:t>
            </a:r>
            <a:r>
              <a:rPr lang="en-US" sz="7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한계 및 개선점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859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프로젝트 중 느낀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한계점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과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미래논의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6256000" y="-12700"/>
            <a:ext cx="1778000" cy="25654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6200000">
            <a:off x="1435100" y="5867400"/>
            <a:ext cx="4470400" cy="508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6200000">
            <a:off x="6769100" y="5867400"/>
            <a:ext cx="4470400" cy="50800"/>
          </a:xfrm>
          <a:prstGeom prst="rect">
            <a:avLst/>
          </a:prstGeom>
        </p:spPr>
      </p:pic>
      <p:sp>
        <p:nvSpPr>
          <p:cNvPr name="TextBox 11" id="11"/>
          <p:cNvSpPr txBox="true"/>
          <p:nvPr/>
        </p:nvSpPr>
        <p:spPr>
          <a:xfrm rot="0">
            <a:off x="3810000" y="6096000"/>
            <a:ext cx="5041900" cy="9271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088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관제 항목</a:t>
            </a:r>
            <a:r>
              <a:rPr lang="en-US" sz="5088" b="false" i="false" u="none" strike="noStrike">
                <a:solidFill>
                  <a:srgbClr val="0E427F"/>
                </a:solidFill>
                <a:latin typeface="Pretendard Bold"/>
                <a:ea typeface="Pretendard Bold"/>
                <a:cs typeface="Pretendard Bold"/>
              </a:rPr>
              <a:t>의 다양성</a:t>
            </a:r>
          </a:p>
        </p:txBody>
      </p:sp>
      <p:pic>
        <p:nvPicPr>
          <p:cNvPr name="Picture 12" id="12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5473700" y="4368800"/>
            <a:ext cx="1714500" cy="1473200"/>
          </a:xfrm>
          <a:prstGeom prst="rect">
            <a:avLst/>
          </a:prstGeom>
        </p:spPr>
      </p:pic>
      <p:sp>
        <p:nvSpPr>
          <p:cNvPr name="TextBox 13" id="13"/>
          <p:cNvSpPr txBox="true"/>
          <p:nvPr/>
        </p:nvSpPr>
        <p:spPr>
          <a:xfrm rot="0">
            <a:off x="-139700" y="6083300"/>
            <a:ext cx="3873500" cy="9525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250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기능</a:t>
            </a:r>
            <a:r>
              <a:rPr lang="en-US" sz="5250" b="false" i="false" u="none" strike="noStrike">
                <a:solidFill>
                  <a:srgbClr val="0E427F"/>
                </a:solidFill>
                <a:latin typeface="Pretendard Bold"/>
                <a:ea typeface="Pretendard Bold"/>
                <a:cs typeface="Pretendard Bold"/>
              </a:rPr>
              <a:t>의 부족</a:t>
            </a:r>
          </a:p>
        </p:txBody>
      </p:sp>
      <p:pic>
        <p:nvPicPr>
          <p:cNvPr name="Picture 14" id="14"/>
          <p:cNvPicPr>
            <a:picLocks noChangeAspect="true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0">
            <a:off x="965200" y="4368800"/>
            <a:ext cx="1663700" cy="1663700"/>
          </a:xfrm>
          <a:prstGeom prst="rect">
            <a:avLst/>
          </a:prstGeom>
        </p:spPr>
      </p:pic>
      <p:sp>
        <p:nvSpPr>
          <p:cNvPr name="TextBox 15" id="15"/>
          <p:cNvSpPr txBox="true"/>
          <p:nvPr/>
        </p:nvSpPr>
        <p:spPr>
          <a:xfrm rot="0">
            <a:off x="9283700" y="6121400"/>
            <a:ext cx="4406900" cy="901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4918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단일 화각</a:t>
            </a:r>
            <a:r>
              <a:rPr lang="en-US" sz="4918" b="false" i="fals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의 한계</a:t>
            </a:r>
          </a:p>
        </p:txBody>
      </p:sp>
      <p:pic>
        <p:nvPicPr>
          <p:cNvPr name="Picture 16" id="16"/>
          <p:cNvPicPr>
            <a:picLocks noChangeAspect="true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rot="0">
            <a:off x="10579100" y="4381500"/>
            <a:ext cx="1714500" cy="1587500"/>
          </a:xfrm>
          <a:prstGeom prst="rect">
            <a:avLst/>
          </a:prstGeom>
        </p:spPr>
      </p:pic>
      <p:pic>
        <p:nvPicPr>
          <p:cNvPr name="Picture 17" id="17"/>
          <p:cNvPicPr>
            <a:picLocks noChangeAspect="true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 rot="0">
            <a:off x="15151100" y="4356100"/>
            <a:ext cx="1612900" cy="1612900"/>
          </a:xfrm>
          <a:prstGeom prst="rect">
            <a:avLst/>
          </a:prstGeom>
        </p:spPr>
      </p:pic>
      <p:pic>
        <p:nvPicPr>
          <p:cNvPr name="Picture 18" id="18"/>
          <p:cNvPicPr>
            <a:picLocks noChangeAspect="true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16200000">
            <a:off x="11684000" y="5981700"/>
            <a:ext cx="4470400" cy="50800"/>
          </a:xfrm>
          <a:prstGeom prst="rect">
            <a:avLst/>
          </a:prstGeom>
        </p:spPr>
      </p:pic>
      <p:sp>
        <p:nvSpPr>
          <p:cNvPr name="TextBox 19" id="19"/>
          <p:cNvSpPr txBox="true"/>
          <p:nvPr/>
        </p:nvSpPr>
        <p:spPr>
          <a:xfrm rot="0">
            <a:off x="13931900" y="6121400"/>
            <a:ext cx="4406900" cy="9017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4918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iOS </a:t>
            </a:r>
            <a:r>
              <a:rPr lang="en-US" sz="4918" b="false" i="fals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푸시 알림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417300" y="14097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52400" y="99187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908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12700" y="2463800"/>
            <a:ext cx="18453100" cy="6350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1117600" y="6083300"/>
            <a:ext cx="6972300" cy="1168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6399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신뢰도·정확도 </a:t>
            </a:r>
            <a:r>
              <a:rPr lang="en-US" sz="6399" b="false" i="fals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향상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172700" y="6083300"/>
            <a:ext cx="6985000" cy="11684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6399" b="false" i="false" u="none" strike="noStrike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다양한 기술</a:t>
            </a:r>
            <a:r>
              <a:rPr lang="en-US" sz="6399" b="false" i="fals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과</a:t>
            </a:r>
            <a:r>
              <a:rPr lang="en-US" sz="6399" b="false" i="false" u="none" strike="noStrike">
                <a:solidFill>
                  <a:srgbClr val="002E79"/>
                </a:solidFill>
                <a:latin typeface="Pretendard Bold"/>
                <a:ea typeface="Pretendard Bold"/>
                <a:cs typeface="Pretendard Bold"/>
              </a:rPr>
              <a:t> 결합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6408400" y="50800"/>
            <a:ext cx="1447800" cy="24638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0">
            <a:off x="3695700" y="4089400"/>
            <a:ext cx="1816100" cy="18161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0">
            <a:off x="12661900" y="3987800"/>
            <a:ext cx="2019300" cy="20193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16200000">
            <a:off x="6921500" y="5867400"/>
            <a:ext cx="4470400" cy="50800"/>
          </a:xfrm>
          <a:prstGeom prst="rect">
            <a:avLst/>
          </a:prstGeom>
        </p:spPr>
      </p:pic>
      <p:sp>
        <p:nvSpPr>
          <p:cNvPr name="TextBox 12" id="12"/>
          <p:cNvSpPr txBox="true"/>
          <p:nvPr/>
        </p:nvSpPr>
        <p:spPr>
          <a:xfrm rot="0">
            <a:off x="38100" y="190500"/>
            <a:ext cx="7162800" cy="1358900"/>
          </a:xfrm>
          <a:prstGeom prst="rect">
            <a:avLst/>
          </a:prstGeom>
        </p:spPr>
        <p:txBody>
          <a:bodyPr anchor="ctr" rtlCol="false" lIns="0" tIns="95250" rIns="0" bIns="95250"/>
          <a:lstStyle/>
          <a:p>
            <a:pPr algn="ctr" lvl="0">
              <a:lnSpc>
                <a:spcPct val="99600"/>
              </a:lnSpc>
            </a:pPr>
            <a:r>
              <a:rPr lang="en-US" sz="42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06.</a:t>
            </a:r>
            <a:r>
              <a:rPr lang="en-US" sz="7500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 한계 및 개선점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485900" y="1524000"/>
            <a:ext cx="6438900" cy="457200"/>
          </a:xfrm>
          <a:prstGeom prst="rect">
            <a:avLst/>
          </a:prstGeom>
        </p:spPr>
        <p:txBody>
          <a:bodyPr anchor="ctr" rtlCol="false" lIns="0" tIns="30707" rIns="0" bIns="30707"/>
          <a:lstStyle/>
          <a:p>
            <a:pPr algn="l" lvl="0">
              <a:lnSpc>
                <a:spcPct val="99600"/>
              </a:lnSpc>
            </a:pP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프로젝트 중 느낀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한계점</a:t>
            </a:r>
            <a:r>
              <a:rPr lang="en-US" sz="2417" b="false" i="false" u="none" strike="noStrike" cap="all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과 </a:t>
            </a:r>
            <a:r>
              <a:rPr lang="en-US" sz="2417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미래논의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423158">
            <a:off x="11099800" y="1574800"/>
            <a:ext cx="8255000" cy="98552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>
            <a:off x="-152400" y="9918700"/>
            <a:ext cx="18592800" cy="3683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290800" y="9918700"/>
            <a:ext cx="7442200" cy="381000"/>
          </a:xfrm>
          <a:prstGeom prst="rect">
            <a:avLst/>
          </a:prstGeom>
        </p:spPr>
        <p:txBody>
          <a:bodyPr anchor="ctr" rtlCol="false" lIns="0" tIns="25399" rIns="0" bIns="25399"/>
          <a:lstStyle/>
          <a:p>
            <a:pPr algn="l" lvl="0">
              <a:lnSpc>
                <a:spcPct val="99600"/>
              </a:lnSpc>
            </a:pPr>
            <a:r>
              <a:rPr lang="en-US" sz="1999" b="false" i="false" u="none" strike="noStrike" cap="all">
                <a:solidFill>
                  <a:srgbClr val="FD9F28"/>
                </a:solidFill>
                <a:latin typeface="Pretendard Bold"/>
                <a:ea typeface="Pretendard Bold"/>
                <a:cs typeface="Pretendard Bold"/>
              </a:rPr>
              <a:t>P</a:t>
            </a:r>
            <a:r>
              <a:rPr lang="en-US" sz="1999" b="false" i="false" u="none" strike="noStrike" cap="all">
                <a:solidFill>
                  <a:srgbClr val="EEEEEE"/>
                </a:solidFill>
                <a:latin typeface="Pretendard Bold"/>
                <a:ea typeface="Pretendard Bold"/>
                <a:cs typeface="Pretendard Bold"/>
              </a:rPr>
              <a:t>OSCO K-뉴딜 VISION AI</a:t>
            </a:r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>
            <a:off x="-76200" y="1701800"/>
            <a:ext cx="18453100" cy="6350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38100" y="190500"/>
            <a:ext cx="6629400" cy="1358900"/>
          </a:xfrm>
          <a:prstGeom prst="rect">
            <a:avLst/>
          </a:prstGeom>
        </p:spPr>
        <p:txBody>
          <a:bodyPr anchor="ctr" rtlCol="false" lIns="0" tIns="95247" rIns="0" bIns="95247"/>
          <a:lstStyle/>
          <a:p>
            <a:pPr algn="ctr" lvl="0">
              <a:lnSpc>
                <a:spcPct val="99600"/>
              </a:lnSpc>
            </a:pPr>
            <a:r>
              <a:rPr lang="en-US" sz="7498" b="false" i="false" u="none" strike="noStrike">
                <a:solidFill>
                  <a:srgbClr val="1F375D"/>
                </a:solidFill>
                <a:latin typeface="Pretendard Bold"/>
                <a:ea typeface="Pretendard Bold"/>
                <a:cs typeface="Pretendard Bold"/>
              </a:rPr>
              <a:t>함께 만든 사람들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026900" y="5562600"/>
            <a:ext cx="5257800" cy="977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336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김민경</a:t>
            </a:r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>
            <a:off x="12026900" y="5321300"/>
            <a:ext cx="5156200" cy="50800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 rot="0">
            <a:off x="12420600" y="6718300"/>
            <a:ext cx="4584700" cy="495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역할 : ROI 구현, 웹사이트 크롤링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557000" y="7416800"/>
            <a:ext cx="6197600" cy="1066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업무 : ROI 지정 구현 및 데이터 저장</a:t>
            </a:r>
          </a:p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selenium 웹사이트 내 객체 추출</a:t>
            </a:r>
          </a:p>
        </p:txBody>
      </p:sp>
      <p:pic>
        <p:nvPicPr>
          <p:cNvPr name="Picture 11" id="11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3830300" y="2743200"/>
            <a:ext cx="1638300" cy="2603500"/>
          </a:xfrm>
          <a:prstGeom prst="rect">
            <a:avLst/>
          </a:prstGeom>
        </p:spPr>
      </p:pic>
      <p:sp>
        <p:nvSpPr>
          <p:cNvPr name="TextBox 12" id="12"/>
          <p:cNvSpPr txBox="true"/>
          <p:nvPr/>
        </p:nvSpPr>
        <p:spPr>
          <a:xfrm rot="0">
            <a:off x="6299200" y="5562600"/>
            <a:ext cx="5257800" cy="977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336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임경현</a:t>
            </a:r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6299200" y="5321300"/>
            <a:ext cx="5156200" cy="50800"/>
          </a:xfrm>
          <a:prstGeom prst="rect">
            <a:avLst/>
          </a:prstGeom>
        </p:spPr>
      </p:pic>
      <p:sp>
        <p:nvSpPr>
          <p:cNvPr name="TextBox 14" id="14"/>
          <p:cNvSpPr txBox="true"/>
          <p:nvPr/>
        </p:nvSpPr>
        <p:spPr>
          <a:xfrm rot="0">
            <a:off x="6921500" y="6718300"/>
            <a:ext cx="4114800" cy="495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l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역할 : DB 구축, 객체탐지 구현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16700" y="7416800"/>
            <a:ext cx="4622800" cy="1066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업무 : MYSQL 이용한 DB구축
YOLO모델 학습 및 객체탐지 구현</a:t>
            </a:r>
          </a:p>
        </p:txBody>
      </p:sp>
      <p:pic>
        <p:nvPicPr>
          <p:cNvPr name="Picture 16" id="16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8039100" y="2743200"/>
            <a:ext cx="1676400" cy="2603500"/>
          </a:xfrm>
          <a:prstGeom prst="rect">
            <a:avLst/>
          </a:prstGeom>
        </p:spPr>
      </p:pic>
      <p:sp>
        <p:nvSpPr>
          <p:cNvPr name="TextBox 17" id="17"/>
          <p:cNvSpPr txBox="true"/>
          <p:nvPr/>
        </p:nvSpPr>
        <p:spPr>
          <a:xfrm rot="0">
            <a:off x="520700" y="5562600"/>
            <a:ext cx="5257800" cy="9779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5336" b="false" i="false" u="none" strike="noStrike">
                <a:solidFill>
                  <a:srgbClr val="1B2F5E"/>
                </a:solidFill>
                <a:latin typeface="Pretendard Bold"/>
                <a:ea typeface="Pretendard Bold"/>
                <a:cs typeface="Pretendard Bold"/>
              </a:rPr>
              <a:t>이승현</a:t>
            </a:r>
          </a:p>
        </p:txBody>
      </p:sp>
      <p:pic>
        <p:nvPicPr>
          <p:cNvPr name="Picture 18" id="18"/>
          <p:cNvPicPr>
            <a:picLocks noChangeAspect="true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>
            <a:off x="520700" y="5321300"/>
            <a:ext cx="5156200" cy="50800"/>
          </a:xfrm>
          <a:prstGeom prst="rect">
            <a:avLst/>
          </a:prstGeom>
        </p:spPr>
      </p:pic>
      <p:sp>
        <p:nvSpPr>
          <p:cNvPr name="TextBox 19" id="19"/>
          <p:cNvSpPr txBox="true"/>
          <p:nvPr/>
        </p:nvSpPr>
        <p:spPr>
          <a:xfrm rot="0">
            <a:off x="1155700" y="6718300"/>
            <a:ext cx="3987800" cy="4953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역할 : PM · 도메인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55700" y="7416800"/>
            <a:ext cx="3987800" cy="1066800"/>
          </a:xfrm>
          <a:prstGeom prst="rect">
            <a:avLst/>
          </a:prstGeom>
        </p:spPr>
        <p:txBody>
          <a:bodyPr anchor="ctr" rtlCol="false" lIns="0" tIns="0" rIns="0" bIns="0"/>
          <a:lstStyle/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업무 : 프로젝트 기획 및 구상</a:t>
            </a:r>
          </a:p>
          <a:p>
            <a:pPr algn="ctr" lvl="0">
              <a:lnSpc>
                <a:spcPct val="140269"/>
              </a:lnSpc>
            </a:pPr>
            <a:r>
              <a:rPr lang="en-US" sz="2668" b="false" i="false" u="none" strike="noStrike">
                <a:solidFill>
                  <a:srgbClr val="787878"/>
                </a:solidFill>
                <a:latin typeface="Pretendard Bold"/>
                <a:ea typeface="Pretendard Bold"/>
                <a:cs typeface="Pretendard Bold"/>
              </a:rPr>
              <a:t>문서 작성, 레퍼런스 수집</a:t>
            </a:r>
          </a:p>
        </p:txBody>
      </p:sp>
      <p:pic>
        <p:nvPicPr>
          <p:cNvPr name="Picture 21" id="21"/>
          <p:cNvPicPr>
            <a:picLocks noChangeAspect="true"/>
          </p:cNvPicPr>
          <p:nvPr/>
        </p:nvPicPr>
        <p:blipFill>
          <a:blip r:embed="rId13"/>
          <a:stretch>
            <a:fillRect/>
          </a:stretch>
        </p:blipFill>
        <p:spPr>
          <a:xfrm rot="0">
            <a:off x="2070100" y="2794000"/>
            <a:ext cx="1943100" cy="25781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002E79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>
            <a:alphaModFix amt="41000"/>
          </a:blip>
          <a:stretch>
            <a:fillRect/>
          </a:stretch>
        </p:blipFill>
        <p:spPr>
          <a:xfrm rot="0">
            <a:off x="-317500" y="-12700"/>
            <a:ext cx="19037300" cy="106934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2857500" y="3479800"/>
            <a:ext cx="12573000" cy="2057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11419" b="false" i="false" u="none" strike="noStrike">
                <a:solidFill>
                  <a:srgbClr val="FFFFFF"/>
                </a:solidFill>
                <a:latin typeface="210 OmniGothic 050"/>
                <a:ea typeface="210 OmniGothic 050"/>
                <a:cs typeface="210 OmniGothic 050"/>
              </a:rPr>
              <a:t>경청해주셔서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521200" y="5105400"/>
            <a:ext cx="9258300" cy="20574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11419" b="false" i="false" u="none" strike="noStrike">
                <a:solidFill>
                  <a:srgbClr val="FFFFFF"/>
                </a:solidFill>
                <a:latin typeface="210 OmniGothic 050"/>
                <a:ea typeface="210 OmniGothic 050"/>
                <a:cs typeface="210 OmniGothic 050"/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