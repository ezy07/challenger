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retendard ExtraBold"/>
      <p:bold r:id="rId24"/>
    </p:embeddedFont>
    <p:embeddedFont>
      <p:font typeface="Pretendard Bold"/>
      <p:bold r:id="rId25"/>
    </p:embeddedFont>
    <p:embeddedFont>
      <p:font typeface="Pretendard Light"/>
      <p:regular r:id="rId26"/>
    </p:embeddedFont>
    <p:embeddedFont>
      <p:font typeface="Pretendard SemiBold"/>
      <p:bold r:id="rId27"/>
    </p:embeddedFont>
    <p:embeddedFont>
      <p:font typeface="210 OmniGothic 050"/>
      <p:regular r:id="rId28"/>
    </p:embeddedFont>
    <p:embeddedFont>
      <p:font typeface="Pretendard Regular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1.fntdata" Type="http://schemas.openxmlformats.org/officeDocument/2006/relationships/font"/><Relationship Id="rId25" Target="fonts/font2.fntdata" Type="http://schemas.openxmlformats.org/officeDocument/2006/relationships/font"/><Relationship Id="rId26" Target="fonts/font3.fntdata" Type="http://schemas.openxmlformats.org/officeDocument/2006/relationships/font"/><Relationship Id="rId27" Target="fonts/font4.fntdata" Type="http://schemas.openxmlformats.org/officeDocument/2006/relationships/font"/><Relationship Id="rId28" Target="fonts/font5.fntdata" Type="http://schemas.openxmlformats.org/officeDocument/2006/relationships/font"/><Relationship Id="rId29" Target="fonts/font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1.png" Type="http://schemas.openxmlformats.org/officeDocument/2006/relationships/image"/><Relationship Id="rId2" Target="../media/image24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51.png" Type="http://schemas.openxmlformats.org/officeDocument/2006/relationships/image"/><Relationship Id="rId14" Target="../media/image52.svg" Type="http://schemas.openxmlformats.org/officeDocument/2006/relationships/image"/><Relationship Id="rId15" Target="../media/image53.png" Type="http://schemas.openxmlformats.org/officeDocument/2006/relationships/image"/><Relationship Id="rId16" Target="../media/image54.svg" Type="http://schemas.openxmlformats.org/officeDocument/2006/relationships/image"/><Relationship Id="rId17" Target="../media/image55.png" Type="http://schemas.openxmlformats.org/officeDocument/2006/relationships/image"/><Relationship Id="rId18" Target="../media/image56.png" Type="http://schemas.openxmlformats.org/officeDocument/2006/relationships/image"/><Relationship Id="rId19" Target="../media/image57.svg" Type="http://schemas.openxmlformats.org/officeDocument/2006/relationships/image"/><Relationship Id="rId2" Target="../media/image16.png" Type="http://schemas.openxmlformats.org/officeDocument/2006/relationships/image"/><Relationship Id="rId20" Target="../media/image58.svg" Type="http://schemas.openxmlformats.org/officeDocument/2006/relationships/image"/><Relationship Id="rId21" Target="../media/image59.png" Type="http://schemas.openxmlformats.org/officeDocument/2006/relationships/image"/><Relationship Id="rId22" Target="../media/image60.svg" Type="http://schemas.openxmlformats.org/officeDocument/2006/relationships/image"/><Relationship Id="rId23" Target="../media/image61.png" Type="http://schemas.openxmlformats.org/officeDocument/2006/relationships/image"/><Relationship Id="rId24" Target="../media/image62.png" Type="http://schemas.openxmlformats.org/officeDocument/2006/relationships/image"/><Relationship Id="rId25" Target="../media/image63.svg" Type="http://schemas.openxmlformats.org/officeDocument/2006/relationships/image"/><Relationship Id="rId26" Target="../media/image64.png" Type="http://schemas.openxmlformats.org/officeDocument/2006/relationships/image"/><Relationship Id="rId27" Target="../media/image65.svg" Type="http://schemas.openxmlformats.org/officeDocument/2006/relationships/image"/><Relationship Id="rId28" Target="../media/image66.png" Type="http://schemas.openxmlformats.org/officeDocument/2006/relationships/image"/><Relationship Id="rId29" Target="../media/image67.sv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https://127.0.0.1:8000" TargetMode="External" Type="http://schemas.openxmlformats.org/officeDocument/2006/relationships/hyperlink"/><Relationship Id="rId4" Target="../media/image69.png" Type="http://schemas.openxmlformats.org/officeDocument/2006/relationships/image"/><Relationship Id="rId5" Target="../media/image7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svg" Type="http://schemas.openxmlformats.org/officeDocument/2006/relationships/image"/><Relationship Id="rId11" Target="../media/image78.svg" Type="http://schemas.openxmlformats.org/officeDocument/2006/relationships/imag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sv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svg" Type="http://schemas.openxmlformats.org/officeDocument/2006/relationships/image"/><Relationship Id="rId13" Target="../media/image86.png" Type="http://schemas.openxmlformats.org/officeDocument/2006/relationships/imag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81.png" Type="http://schemas.openxmlformats.org/officeDocument/2006/relationships/image"/><Relationship Id="rId9" Target="../media/image8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svg" Type="http://schemas.openxmlformats.org/officeDocument/2006/relationships/image"/><Relationship Id="rId11" Target="../media/image92.png" Type="http://schemas.openxmlformats.org/officeDocument/2006/relationships/imag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88.png" Type="http://schemas.openxmlformats.org/officeDocument/2006/relationships/image"/><Relationship Id="rId7" Target="../media/image89.svg" Type="http://schemas.openxmlformats.org/officeDocument/2006/relationships/image"/><Relationship Id="rId8" Target="../media/image90.png" Type="http://schemas.openxmlformats.org/officeDocument/2006/relationships/image"/><Relationship Id="rId9" Target="../media/image9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svg" Type="http://schemas.openxmlformats.org/officeDocument/2006/relationships/image"/><Relationship Id="rId11" Target="../media/image101.png" Type="http://schemas.openxmlformats.org/officeDocument/2006/relationships/image"/><Relationship Id="rId12" Target="../media/image102.svg" Type="http://schemas.openxmlformats.org/officeDocument/2006/relationships/image"/><Relationship Id="rId13" Target="../media/image66.png" Type="http://schemas.openxmlformats.org/officeDocument/2006/relationships/image"/><Relationship Id="rId14" Target="../media/image67.svg" Type="http://schemas.openxmlformats.org/officeDocument/2006/relationships/image"/><Relationship Id="rId15" Target="../media/image40.png" Type="http://schemas.openxmlformats.org/officeDocument/2006/relationships/imag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96.pn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97.png" Type="http://schemas.openxmlformats.org/officeDocument/2006/relationships/image"/><Relationship Id="rId8" Target="../media/image98.sv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svg" Type="http://schemas.openxmlformats.org/officeDocument/2006/relationships/image"/><Relationship Id="rId12" Target="../media/image106.png" Type="http://schemas.openxmlformats.org/officeDocument/2006/relationships/image"/><Relationship Id="rId13" Target="../media/image107.svg" Type="http://schemas.openxmlformats.org/officeDocument/2006/relationships/image"/><Relationship Id="rId14" Target="../media/image108.png" Type="http://schemas.openxmlformats.org/officeDocument/2006/relationships/image"/><Relationship Id="rId15" Target="../media/image109.png" Type="http://schemas.openxmlformats.org/officeDocument/2006/relationships/image"/><Relationship Id="rId16" Target="../media/image110.png" Type="http://schemas.openxmlformats.org/officeDocument/2006/relationships/image"/><Relationship Id="rId17" Target="../media/image111.png" Type="http://schemas.openxmlformats.org/officeDocument/2006/relationships/image"/><Relationship Id="rId18" Target="../media/image112.svg" Type="http://schemas.openxmlformats.org/officeDocument/2006/relationships/image"/><Relationship Id="rId19" Target="../media/image113.png" Type="http://schemas.openxmlformats.org/officeDocument/2006/relationships/image"/><Relationship Id="rId2" Target="../media/image71.png" Type="http://schemas.openxmlformats.org/officeDocument/2006/relationships/image"/><Relationship Id="rId20" Target="../media/image114.svg" Type="http://schemas.openxmlformats.org/officeDocument/2006/relationships/image"/><Relationship Id="rId21" Target="../media/image115.png" Type="http://schemas.openxmlformats.org/officeDocument/2006/relationships/image"/><Relationship Id="rId22" Target="../media/image116.svg" Type="http://schemas.openxmlformats.org/officeDocument/2006/relationships/image"/><Relationship Id="rId23" Target="../media/image117.png" Type="http://schemas.openxmlformats.org/officeDocument/2006/relationships/image"/><Relationship Id="rId24" Target="../media/image118.svg" Type="http://schemas.openxmlformats.org/officeDocument/2006/relationships/image"/><Relationship Id="rId25" Target="../media/image119.png" Type="http://schemas.openxmlformats.org/officeDocument/2006/relationships/image"/><Relationship Id="rId26" Target="../media/image120.svg" Type="http://schemas.openxmlformats.org/officeDocument/2006/relationships/image"/><Relationship Id="rId3" Target="../media/image72.svg" Type="http://schemas.openxmlformats.org/officeDocument/2006/relationships/image"/><Relationship Id="rId4" Target="../media/image103.pn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25.png" Type="http://schemas.openxmlformats.org/officeDocument/2006/relationships/image"/><Relationship Id="rId8" Target="../media/image67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5.svg" Type="http://schemas.openxmlformats.org/officeDocument/2006/relationships/image"/><Relationship Id="rId11" Target="../media/image21.png" Type="http://schemas.openxmlformats.org/officeDocument/2006/relationships/image"/><Relationship Id="rId2" Target="../media/image12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22.png" Type="http://schemas.openxmlformats.org/officeDocument/2006/relationships/image"/><Relationship Id="rId8" Target="../media/image123.svg" Type="http://schemas.openxmlformats.org/officeDocument/2006/relationships/image"/><Relationship Id="rId9" Target="../media/image1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0.svg" Type="http://schemas.openxmlformats.org/officeDocument/2006/relationships/image"/><Relationship Id="rId11" Target="../media/image131.png" Type="http://schemas.openxmlformats.org/officeDocument/2006/relationships/image"/><Relationship Id="rId12" Target="../media/image132.png" Type="http://schemas.openxmlformats.org/officeDocument/2006/relationships/image"/><Relationship Id="rId13" Target="../media/image133.svg" Type="http://schemas.openxmlformats.org/officeDocument/2006/relationships/image"/><Relationship Id="rId14" Target="../media/image134.png" Type="http://schemas.openxmlformats.org/officeDocument/2006/relationships/image"/><Relationship Id="rId15" Target="../media/image135.svg" Type="http://schemas.openxmlformats.org/officeDocument/2006/relationships/image"/><Relationship Id="rId16" Target="../media/image136.png" Type="http://schemas.openxmlformats.org/officeDocument/2006/relationships/image"/><Relationship Id="rId17" Target="../media/image137.svg" Type="http://schemas.openxmlformats.org/officeDocument/2006/relationships/image"/><Relationship Id="rId18" Target="../media/image138.png" Type="http://schemas.openxmlformats.org/officeDocument/2006/relationships/image"/><Relationship Id="rId19" Target="../media/image139.svg" Type="http://schemas.openxmlformats.org/officeDocument/2006/relationships/image"/><Relationship Id="rId2" Target="../media/image12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6.png" Type="http://schemas.openxmlformats.org/officeDocument/2006/relationships/image"/><Relationship Id="rId6" Target="../media/image26.svg" Type="http://schemas.openxmlformats.org/officeDocument/2006/relationships/image"/><Relationship Id="rId7" Target="../media/image127.png" Type="http://schemas.openxmlformats.org/officeDocument/2006/relationships/image"/><Relationship Id="rId8" Target="../media/image128.png" Type="http://schemas.openxmlformats.org/officeDocument/2006/relationships/image"/><Relationship Id="rId9" Target="../media/image12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4.png" Type="http://schemas.openxmlformats.org/officeDocument/2006/relationships/image"/><Relationship Id="rId11" Target="../media/image145.svg" Type="http://schemas.openxmlformats.org/officeDocument/2006/relationships/image"/><Relationship Id="rId12" Target="../media/image128.png" Type="http://schemas.openxmlformats.org/officeDocument/2006/relationships/image"/><Relationship Id="rId13" Target="../media/image130.svg" Type="http://schemas.openxmlformats.org/officeDocument/2006/relationships/image"/><Relationship Id="rId2" Target="../media/image140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6.png" Type="http://schemas.openxmlformats.org/officeDocument/2006/relationships/image"/><Relationship Id="rId6" Target="../media/image26.svg" Type="http://schemas.openxmlformats.org/officeDocument/2006/relationships/image"/><Relationship Id="rId7" Target="../media/image141.png" Type="http://schemas.openxmlformats.org/officeDocument/2006/relationships/image"/><Relationship Id="rId8" Target="../media/image142.png" Type="http://schemas.openxmlformats.org/officeDocument/2006/relationships/image"/><Relationship Id="rId9" Target="../media/image14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svg" Type="http://schemas.openxmlformats.org/officeDocument/2006/relationships/image"/><Relationship Id="rId11" Target="../media/image150.png" Type="http://schemas.openxmlformats.org/officeDocument/2006/relationships/image"/><Relationship Id="rId12" Target="../media/image122.png" Type="http://schemas.openxmlformats.org/officeDocument/2006/relationships/image"/><Relationship Id="rId13" Target="../media/image151.png" Type="http://schemas.openxmlformats.org/officeDocument/2006/relationships/image"/><Relationship Id="rId2" Target="../media/image14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5.png" Type="http://schemas.openxmlformats.org/officeDocument/2006/relationships/image"/><Relationship Id="rId6" Target="../media/image147.svg" Type="http://schemas.openxmlformats.org/officeDocument/2006/relationships/image"/><Relationship Id="rId7" Target="../media/image124.png" Type="http://schemas.openxmlformats.org/officeDocument/2006/relationships/image"/><Relationship Id="rId8" Target="../media/image148.svg" Type="http://schemas.openxmlformats.org/officeDocument/2006/relationships/image"/><Relationship Id="rId9" Target="../media/image1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 rot="0">
            <a:off x="-317500" y="-12700"/>
            <a:ext cx="19037300" cy="10693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098800" y="4406900"/>
            <a:ext cx="12204700" cy="144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8000" b="false" i="false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안전관제 실시간 대시보드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1811000" y="3060700"/>
            <a:ext cx="914400" cy="673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660900" y="3695700"/>
            <a:ext cx="8953500" cy="5207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ctr" lvl="0">
              <a:lnSpc>
                <a:spcPct val="83000"/>
              </a:lnSpc>
            </a:pPr>
            <a:r>
              <a:rPr lang="en-US" sz="2800" b="true" i="false" u="none" strike="noStrike" spc="100">
                <a:solidFill>
                  <a:srgbClr val="FD9F28"/>
                </a:solidFill>
                <a:latin typeface="Pretendard Light"/>
                <a:ea typeface="Pretendard Light"/>
                <a:cs typeface="Pretendard Light"/>
              </a:rPr>
              <a:t>THE FUTURE OF CONSTRUCTION SAFETY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36900" y="5969000"/>
            <a:ext cx="120142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건설현장의 내일을 바꾸는 스마트 비전 AI 관제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495300" y="9207500"/>
            <a:ext cx="172974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251200" y="9474200"/>
            <a:ext cx="120015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99" b="false" i="false" u="none" strike="noStrike">
                <a:solidFill>
                  <a:srgbClr val="9E9E9E"/>
                </a:solidFill>
                <a:latin typeface="Pretendard Bold"/>
                <a:ea typeface="Pretendard Bold"/>
                <a:cs typeface="Pretendard Bold"/>
              </a:rPr>
              <a:t>이승현 임경현 김민경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600" y="76200"/>
            <a:ext cx="3009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K-뉴딜</a:t>
            </a:r>
            <a:r>
              <a:rPr lang="en-US" sz="240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Vision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63500" y="38100"/>
            <a:ext cx="153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42" b="tru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2742" b="tru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OSCO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5400000">
            <a:off x="1206500" y="279400"/>
            <a:ext cx="4191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600" y="1346200"/>
            <a:ext cx="1866900" cy="1282700"/>
          </a:xfrm>
          <a:prstGeom prst="rect">
            <a:avLst/>
          </a:prstGeom>
        </p:spPr>
        <p:txBody>
          <a:bodyPr anchor="t" rtlCol="false" lIns="0" tIns="143320" rIns="0" bIns="0"/>
          <a:lstStyle/>
          <a:p>
            <a:pPr algn="l" lvl="0">
              <a:lnSpc>
                <a:spcPct val="85490"/>
              </a:lnSpc>
            </a:pPr>
            <a:r>
              <a:rPr lang="en-US" sz="7096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4013200" y="-12700"/>
            <a:ext cx="14541500" cy="1090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975100" y="1155700"/>
            <a:ext cx="146685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638800" y="4546600"/>
            <a:ext cx="3810000" cy="1003300"/>
          </a:xfrm>
          <a:prstGeom prst="rect">
            <a:avLst/>
          </a:prstGeom>
        </p:spPr>
        <p:txBody>
          <a:bodyPr anchor="t" rtlCol="false" lIns="0" tIns="69850" rIns="0" bIns="0"/>
          <a:lstStyle/>
          <a:p>
            <a:pPr algn="l" lvl="0">
              <a:lnSpc>
                <a:spcPct val="99600"/>
              </a:lnSpc>
            </a:pPr>
            <a:r>
              <a:rPr lang="en-US" sz="5500" b="false" i="false" u="none" strike="noStrike" spc="-3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VISION 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38800" y="5511800"/>
            <a:ext cx="4191000" cy="406400"/>
          </a:xfrm>
          <a:prstGeom prst="rect">
            <a:avLst/>
          </a:prstGeom>
        </p:spPr>
        <p:txBody>
          <a:bodyPr anchor="t" rtlCol="false" lIns="0" tIns="24101" rIns="0" bIns="0"/>
          <a:lstStyle/>
          <a:p>
            <a:pPr algn="l" lvl="0">
              <a:lnSpc>
                <a:spcPct val="99600"/>
              </a:lnSpc>
            </a:pPr>
            <a:r>
              <a:rPr lang="en-US" sz="2106" b="false" i="false" u="none" strike="noStrike" spc="-200">
                <a:solidFill>
                  <a:srgbClr val="595959">
                    <a:alpha val="67059"/>
                  </a:srgbClr>
                </a:solidFill>
                <a:latin typeface="Pretendard Light"/>
                <a:ea typeface="Pretendard Light"/>
                <a:cs typeface="Pretendard Light"/>
              </a:rPr>
              <a:t>중대재해 Zero를 향한 실시간 통제체계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24400" y="4927600"/>
            <a:ext cx="863600" cy="596900"/>
          </a:xfrm>
          <a:prstGeom prst="rect">
            <a:avLst/>
          </a:prstGeom>
        </p:spPr>
        <p:txBody>
          <a:bodyPr anchor="t" rtlCol="false" lIns="0" tIns="36947" rIns="0" bIns="0"/>
          <a:lstStyle/>
          <a:p>
            <a:pPr algn="ctr" lvl="0">
              <a:lnSpc>
                <a:spcPct val="99600"/>
              </a:lnSpc>
            </a:pPr>
            <a:r>
              <a:rPr lang="en-US" sz="3228" b="false" i="false" u="none" strike="noStrike" spc="1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432300" y="5105400"/>
            <a:ext cx="254000" cy="254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303000" y="2438400"/>
            <a:ext cx="863600" cy="596900"/>
          </a:xfrm>
          <a:prstGeom prst="rect">
            <a:avLst/>
          </a:prstGeom>
        </p:spPr>
        <p:txBody>
          <a:bodyPr anchor="t" rtlCol="false" lIns="0" tIns="36947" rIns="0" bIns="0"/>
          <a:lstStyle/>
          <a:p>
            <a:pPr algn="ctr" lvl="0">
              <a:lnSpc>
                <a:spcPct val="99600"/>
              </a:lnSpc>
            </a:pPr>
            <a:r>
              <a:rPr lang="en-US" sz="3228" b="false" i="false" u="none" strike="noStrike" spc="1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0998200" y="2603500"/>
            <a:ext cx="254000" cy="254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242800" y="1981200"/>
            <a:ext cx="5664200" cy="1003300"/>
          </a:xfrm>
          <a:prstGeom prst="rect">
            <a:avLst/>
          </a:prstGeom>
        </p:spPr>
        <p:txBody>
          <a:bodyPr anchor="t" rtlCol="false" lIns="0" tIns="69850" rIns="0" bIns="0"/>
          <a:lstStyle/>
          <a:p>
            <a:pPr algn="l" lvl="0">
              <a:lnSpc>
                <a:spcPct val="99600"/>
              </a:lnSpc>
            </a:pPr>
            <a:r>
              <a:rPr lang="en-US" sz="5499" b="false" i="false" u="none" strike="noStrike" spc="-3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기술 스택 및 DB 구조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2800" y="2908300"/>
            <a:ext cx="4191000" cy="406400"/>
          </a:xfrm>
          <a:prstGeom prst="rect">
            <a:avLst/>
          </a:prstGeom>
        </p:spPr>
        <p:txBody>
          <a:bodyPr anchor="t" rtlCol="false" lIns="0" tIns="24101" rIns="0" bIns="0"/>
          <a:lstStyle/>
          <a:p>
            <a:pPr algn="l" lvl="0">
              <a:lnSpc>
                <a:spcPct val="99600"/>
              </a:lnSpc>
            </a:pPr>
            <a:r>
              <a:rPr lang="en-US" sz="2106" b="false" i="false" u="none" strike="noStrike" spc="-200">
                <a:solidFill>
                  <a:srgbClr val="595959">
                    <a:alpha val="67059"/>
                  </a:srgbClr>
                </a:solidFill>
                <a:latin typeface="Pretendard Light"/>
                <a:ea typeface="Pretendard Light"/>
                <a:cs typeface="Pretendard Light"/>
              </a:rPr>
              <a:t>사용 기술 및 데이터 흐름도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89600" y="7175500"/>
            <a:ext cx="5676900" cy="1003300"/>
          </a:xfrm>
          <a:prstGeom prst="rect">
            <a:avLst/>
          </a:prstGeom>
        </p:spPr>
        <p:txBody>
          <a:bodyPr anchor="t" rtlCol="false" lIns="0" tIns="69850" rIns="0" bIns="0"/>
          <a:lstStyle/>
          <a:p>
            <a:pPr algn="l" lvl="0">
              <a:lnSpc>
                <a:spcPct val="99600"/>
              </a:lnSpc>
            </a:pPr>
            <a:r>
              <a:rPr lang="en-US" sz="5499" b="false" i="false" u="none" strike="noStrike" spc="-3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핵심기능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89600" y="8089900"/>
            <a:ext cx="4191000" cy="406400"/>
          </a:xfrm>
          <a:prstGeom prst="rect">
            <a:avLst/>
          </a:prstGeom>
        </p:spPr>
        <p:txBody>
          <a:bodyPr anchor="t" rtlCol="false" lIns="0" tIns="24101" rIns="0" bIns="0"/>
          <a:lstStyle/>
          <a:p>
            <a:pPr algn="l" lvl="0">
              <a:lnSpc>
                <a:spcPct val="99600"/>
              </a:lnSpc>
            </a:pPr>
            <a:r>
              <a:rPr lang="en-US" sz="2106" b="false" i="false" u="none" strike="noStrike" spc="-200">
                <a:solidFill>
                  <a:srgbClr val="595959">
                    <a:alpha val="67059"/>
                  </a:srgbClr>
                </a:solidFill>
                <a:latin typeface="Pretendard Light"/>
                <a:ea typeface="Pretendard Light"/>
                <a:cs typeface="Pretendard Light"/>
              </a:rPr>
              <a:t>현장의 위험 경보 감지 및 관제 프로세스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24400" y="7531100"/>
            <a:ext cx="863600" cy="596900"/>
          </a:xfrm>
          <a:prstGeom prst="rect">
            <a:avLst/>
          </a:prstGeom>
        </p:spPr>
        <p:txBody>
          <a:bodyPr anchor="t" rtlCol="false" lIns="0" tIns="36947" rIns="0" bIns="0"/>
          <a:lstStyle/>
          <a:p>
            <a:pPr algn="ctr" lvl="0">
              <a:lnSpc>
                <a:spcPct val="99600"/>
              </a:lnSpc>
            </a:pPr>
            <a:r>
              <a:rPr lang="en-US" sz="3228" b="false" i="false" u="none" strike="noStrike" spc="1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4432300" y="7696200"/>
            <a:ext cx="254000" cy="254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319000" y="4483100"/>
            <a:ext cx="2717800" cy="1003300"/>
          </a:xfrm>
          <a:prstGeom prst="rect">
            <a:avLst/>
          </a:prstGeom>
        </p:spPr>
        <p:txBody>
          <a:bodyPr anchor="t" rtlCol="false" lIns="0" tIns="69850" rIns="0" bIns="0"/>
          <a:lstStyle/>
          <a:p>
            <a:pPr algn="l" lvl="0">
              <a:lnSpc>
                <a:spcPct val="99600"/>
              </a:lnSpc>
            </a:pPr>
            <a:r>
              <a:rPr lang="en-US" sz="5500" b="false" i="false" u="none" strike="noStrike" spc="-3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기대 효과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19000" y="5410200"/>
            <a:ext cx="4191000" cy="406400"/>
          </a:xfrm>
          <a:prstGeom prst="rect">
            <a:avLst/>
          </a:prstGeom>
        </p:spPr>
        <p:txBody>
          <a:bodyPr anchor="t" rtlCol="false" lIns="0" tIns="24101" rIns="0" bIns="0"/>
          <a:lstStyle/>
          <a:p>
            <a:pPr algn="l" lvl="0">
              <a:lnSpc>
                <a:spcPct val="99600"/>
              </a:lnSpc>
            </a:pPr>
            <a:r>
              <a:rPr lang="en-US" sz="2106" b="false" i="false" u="none" strike="noStrike" spc="-200">
                <a:solidFill>
                  <a:srgbClr val="595959">
                    <a:alpha val="67059"/>
                  </a:srgbClr>
                </a:solidFill>
                <a:latin typeface="Pretendard Light"/>
                <a:ea typeface="Pretendard Light"/>
                <a:cs typeface="Pretendard Light"/>
              </a:rPr>
              <a:t>사고를 사전에 차단하는 체계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03000" y="4838700"/>
            <a:ext cx="863600" cy="596900"/>
          </a:xfrm>
          <a:prstGeom prst="rect">
            <a:avLst/>
          </a:prstGeom>
        </p:spPr>
        <p:txBody>
          <a:bodyPr anchor="t" rtlCol="false" lIns="0" tIns="36947" rIns="0" bIns="0"/>
          <a:lstStyle/>
          <a:p>
            <a:pPr algn="ctr" lvl="0">
              <a:lnSpc>
                <a:spcPct val="99600"/>
              </a:lnSpc>
            </a:pPr>
            <a:r>
              <a:rPr lang="en-US" sz="3228" b="false" i="false" u="none" strike="noStrike" spc="1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0998200" y="4978400"/>
            <a:ext cx="254000" cy="254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4737100" y="2489200"/>
            <a:ext cx="850900" cy="596900"/>
          </a:xfrm>
          <a:prstGeom prst="rect">
            <a:avLst/>
          </a:prstGeom>
        </p:spPr>
        <p:txBody>
          <a:bodyPr anchor="t" rtlCol="false" lIns="0" tIns="36947" rIns="0" bIns="0"/>
          <a:lstStyle/>
          <a:p>
            <a:pPr algn="ctr" lvl="0">
              <a:lnSpc>
                <a:spcPct val="99600"/>
              </a:lnSpc>
            </a:pPr>
            <a:r>
              <a:rPr lang="en-US" sz="3228" b="false" i="false" u="none" strike="noStrike" spc="1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4432300" y="2654300"/>
            <a:ext cx="254000" cy="25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5638800" y="2032000"/>
            <a:ext cx="4864100" cy="1003300"/>
          </a:xfrm>
          <a:prstGeom prst="rect">
            <a:avLst/>
          </a:prstGeom>
        </p:spPr>
        <p:txBody>
          <a:bodyPr anchor="t" rtlCol="false" lIns="0" tIns="69850" rIns="0" bIns="0"/>
          <a:lstStyle/>
          <a:p>
            <a:pPr algn="l" lvl="0">
              <a:lnSpc>
                <a:spcPct val="99600"/>
              </a:lnSpc>
            </a:pPr>
            <a:r>
              <a:rPr lang="en-US" sz="5499" b="false" i="false" u="none" strike="noStrike" spc="-3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추진배경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89600" y="2997200"/>
            <a:ext cx="4191000" cy="711200"/>
          </a:xfrm>
          <a:prstGeom prst="rect">
            <a:avLst/>
          </a:prstGeom>
        </p:spPr>
        <p:txBody>
          <a:bodyPr anchor="t" rtlCol="false" lIns="0" tIns="24101" rIns="0" bIns="0"/>
          <a:lstStyle/>
          <a:p>
            <a:pPr algn="l" lvl="0">
              <a:lnSpc>
                <a:spcPct val="99600"/>
              </a:lnSpc>
            </a:pPr>
            <a:r>
              <a:rPr lang="en-US" sz="2106" b="false" i="false" u="none" strike="noStrike" spc="-200">
                <a:solidFill>
                  <a:srgbClr val="595959">
                    <a:alpha val="67059"/>
                  </a:srgbClr>
                </a:solidFill>
                <a:latin typeface="Pretendard Light"/>
                <a:ea typeface="Pretendard Light"/>
                <a:cs typeface="Pretendard Light"/>
              </a:rPr>
              <a:t>건설현장을 선택한 이유</a:t>
            </a:r>
          </a:p>
          <a:p>
            <a:pPr algn="l" lvl="0">
              <a:lnSpc>
                <a:spcPct val="99600"/>
              </a:lnSpc>
            </a:pPr>
            <a:r>
              <a:rPr lang="en-US" sz="2106" b="false" i="false" u="none" strike="noStrike" spc="-200">
                <a:solidFill>
                  <a:srgbClr val="595959">
                    <a:alpha val="67059"/>
                  </a:srgbClr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4600" y="76200"/>
            <a:ext cx="3009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K-뉴딜</a:t>
            </a:r>
            <a:r>
              <a:rPr lang="en-US" sz="240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Vision 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63500" y="38100"/>
            <a:ext cx="153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42" b="tru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2742" b="tru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OSCO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6200000">
            <a:off x="1206500" y="279400"/>
            <a:ext cx="419100" cy="381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2319000" y="7162800"/>
            <a:ext cx="4025900" cy="1003300"/>
          </a:xfrm>
          <a:prstGeom prst="rect">
            <a:avLst/>
          </a:prstGeom>
        </p:spPr>
        <p:txBody>
          <a:bodyPr anchor="t" rtlCol="false" lIns="0" tIns="69850" rIns="0" bIns="0"/>
          <a:lstStyle/>
          <a:p>
            <a:pPr algn="l" lvl="0">
              <a:lnSpc>
                <a:spcPct val="99600"/>
              </a:lnSpc>
            </a:pPr>
            <a:r>
              <a:rPr lang="en-US" sz="5499" b="false" i="false" u="none" strike="noStrike" spc="-3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한계 및 개선점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19000" y="8089900"/>
            <a:ext cx="4191000" cy="406400"/>
          </a:xfrm>
          <a:prstGeom prst="rect">
            <a:avLst/>
          </a:prstGeom>
        </p:spPr>
        <p:txBody>
          <a:bodyPr anchor="t" rtlCol="false" lIns="0" tIns="24101" rIns="0" bIns="0"/>
          <a:lstStyle/>
          <a:p>
            <a:pPr algn="l" lvl="0">
              <a:lnSpc>
                <a:spcPct val="99600"/>
              </a:lnSpc>
            </a:pPr>
            <a:r>
              <a:rPr lang="en-US" sz="2106" b="false" i="false" u="none" strike="noStrike" spc="-200">
                <a:solidFill>
                  <a:srgbClr val="595959">
                    <a:alpha val="67059"/>
                  </a:srgbClr>
                </a:solidFill>
                <a:latin typeface="Pretendard Light"/>
                <a:ea typeface="Pretendard Light"/>
                <a:cs typeface="Pretendard Light"/>
              </a:rPr>
              <a:t>프로젝트 중 느낀 한계점과 미래논의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03000" y="7518400"/>
            <a:ext cx="863600" cy="596900"/>
          </a:xfrm>
          <a:prstGeom prst="rect">
            <a:avLst/>
          </a:prstGeom>
        </p:spPr>
        <p:txBody>
          <a:bodyPr anchor="t" rtlCol="false" lIns="0" tIns="36947" rIns="0" bIns="0"/>
          <a:lstStyle/>
          <a:p>
            <a:pPr algn="ctr" lvl="0">
              <a:lnSpc>
                <a:spcPct val="99600"/>
              </a:lnSpc>
            </a:pPr>
            <a:r>
              <a:rPr lang="en-US" sz="3228" b="false" i="false" u="none" strike="noStrike" spc="100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07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0998200" y="76581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423158">
            <a:off x="11099800" y="1574800"/>
            <a:ext cx="8255000" cy="985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52400" y="99314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908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355600" y="2044700"/>
            <a:ext cx="188087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446500" y="139700"/>
            <a:ext cx="1447800" cy="1955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68300" y="2692400"/>
            <a:ext cx="82550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산재 사망 1위 업종, </a:t>
            </a:r>
            <a:r>
              <a:rPr lang="en-US" sz="3000" b="false" i="false" u="none" strike="noStrike">
                <a:solidFill>
                  <a:srgbClr val="FC3030"/>
                </a:solidFill>
                <a:latin typeface="Pretendard Bold"/>
                <a:ea typeface="Pretendard Bold"/>
                <a:cs typeface="Pretendard Bold"/>
              </a:rPr>
              <a:t>건설업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368300" y="3378200"/>
            <a:ext cx="17551400" cy="6413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992100" y="9563100"/>
            <a:ext cx="74168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1800" b="false" i="false" u="none" strike="noStrike">
                <a:solidFill>
                  <a:srgbClr val="9E9E9E"/>
                </a:solidFill>
                <a:latin typeface="Pretendard Bold"/>
                <a:ea typeface="Pretendard Bold"/>
                <a:cs typeface="Pretendard Bold"/>
              </a:rPr>
              <a:t>출처 : 고용노동부 중대재해 알림e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600" y="9563100"/>
            <a:ext cx="74168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1800" b="false" i="false" u="none" strike="noStrike">
                <a:solidFill>
                  <a:srgbClr val="9E9E9E"/>
                </a:solidFill>
                <a:latin typeface="Pretendard Bold"/>
                <a:ea typeface="Pretendard Bold"/>
                <a:cs typeface="Pretendard Bold"/>
              </a:rPr>
              <a:t>2026년 2분기 업종·산업별 잠정통계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571500" y="190500"/>
            <a:ext cx="62484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99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4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추진배경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3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건설현장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을 선택한 이유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0200" y="3606800"/>
            <a:ext cx="4457700" cy="180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10000" b="false" i="false" u="none" strike="noStrike">
                <a:solidFill>
                  <a:srgbClr val="FC3030"/>
                </a:solidFill>
                <a:latin typeface="Pretendard Bold"/>
                <a:ea typeface="Pretendard Bold"/>
                <a:cs typeface="Pretendard Bold"/>
              </a:rPr>
              <a:t>약 47%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14400" y="5613400"/>
            <a:ext cx="2908300" cy="90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252" b="false" i="false" u="none" strike="noStrike">
                <a:solidFill>
                  <a:srgbClr val="9E9E9E"/>
                </a:solidFill>
                <a:latin typeface="Pretendard Bold"/>
                <a:ea typeface="Pretendard Bold"/>
                <a:cs typeface="Pretendard Bold"/>
              </a:rPr>
              <a:t>사망사고 220건 중
103건이 건설업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423158">
            <a:off x="11099800" y="1574800"/>
            <a:ext cx="8255000" cy="985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52400" y="99314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908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12700" y="2108200"/>
            <a:ext cx="184531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68300" y="2679700"/>
            <a:ext cx="4457700" cy="637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68300" y="9512300"/>
            <a:ext cx="95377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1545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출처: 국토교통부·국토안전관리원, 스마트 안전장비 활용 가이드라인(2026.5) · 고용노동부 고시 제2023-11호 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571500" y="190500"/>
            <a:ext cx="62484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99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4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추진배경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571500" y="190500"/>
            <a:ext cx="62484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99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4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추진배경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3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건설현장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을 선택한 이유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3100" y="2324100"/>
            <a:ext cx="11176000" cy="3340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8524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스마트 안전장비,</a:t>
            </a:r>
          </a:p>
          <a:p>
            <a:pPr algn="l" lvl="0">
              <a:lnSpc>
                <a:spcPct val="138609"/>
              </a:lnSpc>
            </a:pPr>
            <a:r>
              <a:rPr lang="en-US" sz="8524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이제 안전관리비로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368300" y="5829300"/>
            <a:ext cx="11391900" cy="63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73100" y="6591300"/>
            <a:ext cx="89408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45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활용 가이드라인 전면 개정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3100" y="6197600"/>
            <a:ext cx="132969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157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2026.05 · 국토교통부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368300" y="7556500"/>
            <a:ext cx="11391900" cy="63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673100" y="8077200"/>
            <a:ext cx="89408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45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안전관리비로 </a:t>
            </a:r>
            <a:r>
              <a:rPr lang="en-US" sz="45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100% 전액 계상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3100" y="7708900"/>
            <a:ext cx="132969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157" b="false" i="false" u="none" strike="noStrike">
                <a:solidFill>
                  <a:srgbClr val="FD9F28"/>
                </a:solidFill>
                <a:latin typeface="Pretendard SemiBold"/>
                <a:ea typeface="Pretendard SemiBold"/>
                <a:cs typeface="Pretendard SemiBold"/>
              </a:rPr>
              <a:t>도입비용</a:t>
            </a:r>
            <a:br>
              <a:rPr lang="en-US" sz="2157" b="false" i="false" u="none" strike="noStrike">
                <a:solidFill>
                  <a:srgbClr val="FD9F28"/>
                </a:solidFill>
                <a:latin typeface="Pretendard SemiBold"/>
                <a:ea typeface="Pretendard SemiBold"/>
                <a:cs typeface="Pretendard SemiBold"/>
              </a:rPr>
            </a:b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510000" y="139700"/>
            <a:ext cx="1447800" cy="195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995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484100" y="4368800"/>
            <a:ext cx="39497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84200" y="2298700"/>
            <a:ext cx="5511800" cy="7188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6388100" y="2298700"/>
            <a:ext cx="5511800" cy="718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2192000" y="2298700"/>
            <a:ext cx="5511800" cy="718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596900" y="3302000"/>
            <a:ext cx="55118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6400800" y="3327400"/>
            <a:ext cx="5511800" cy="50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77900" y="6578600"/>
            <a:ext cx="4711700" cy="10160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AI가 위험 요소를 즉시</a:t>
            </a:r>
          </a:p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감지, 포착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100" y="4279900"/>
            <a:ext cx="3962400" cy="825500"/>
          </a:xfrm>
          <a:prstGeom prst="rect">
            <a:avLst/>
          </a:prstGeom>
        </p:spPr>
        <p:txBody>
          <a:bodyPr anchor="ctr" rtlCol="false" lIns="0" tIns="57150" rIns="0" bIns="57150"/>
          <a:lstStyle/>
          <a:p>
            <a:pPr algn="l" lvl="0">
              <a:lnSpc>
                <a:spcPct val="99600"/>
              </a:lnSpc>
            </a:pPr>
            <a:r>
              <a:rPr lang="en-US" sz="45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실시간 위험 감지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54800" y="6578600"/>
            <a:ext cx="4978400" cy="10160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관리자 · 작업자가 같은 화면으로</a:t>
            </a:r>
            <a:r>
              <a:rPr lang="en-US" sz="30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 실시간 공유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31000" y="4279900"/>
            <a:ext cx="5130800" cy="825500"/>
          </a:xfrm>
          <a:prstGeom prst="rect">
            <a:avLst/>
          </a:prstGeom>
        </p:spPr>
        <p:txBody>
          <a:bodyPr anchor="ctr" rtlCol="false" lIns="0" tIns="57150" rIns="0" bIns="57150"/>
          <a:lstStyle/>
          <a:p>
            <a:pPr algn="l" lvl="0">
              <a:lnSpc>
                <a:spcPct val="99600"/>
              </a:lnSpc>
            </a:pPr>
            <a:r>
              <a:rPr lang="en-US" sz="45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현장 정보 실시간 공유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98400" y="6807200"/>
            <a:ext cx="4711700" cy="5588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사용자의 목적 지향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46000" y="4279900"/>
            <a:ext cx="5168900" cy="825500"/>
          </a:xfrm>
          <a:prstGeom prst="rect">
            <a:avLst/>
          </a:prstGeom>
        </p:spPr>
        <p:txBody>
          <a:bodyPr anchor="ctr" rtlCol="false" lIns="0" tIns="57150" rIns="0" bIns="57150"/>
          <a:lstStyle/>
          <a:p>
            <a:pPr algn="l" lvl="0">
              <a:lnSpc>
                <a:spcPct val="99600"/>
              </a:lnSpc>
            </a:pPr>
            <a:r>
              <a:rPr lang="en-US" sz="45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고위험 작업 맞춤 관제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1400" y="2565400"/>
            <a:ext cx="4699000" cy="5588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9600"/>
              </a:lnSpc>
            </a:pPr>
            <a:r>
              <a:rPr lang="en-US" sz="2999" b="true" i="false" u="none" strike="noStrike">
                <a:solidFill>
                  <a:srgbClr val="C2C2C2"/>
                </a:solidFill>
                <a:latin typeface="Pretendard Bold"/>
                <a:ea typeface="Pretendard Bold"/>
                <a:cs typeface="Pretendard Bold"/>
              </a:rPr>
              <a:t>VISION 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45300" y="2565400"/>
            <a:ext cx="4699000" cy="5588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9600"/>
              </a:lnSpc>
            </a:pPr>
            <a:r>
              <a:rPr lang="en-US" sz="2999" b="true" i="false" u="none" strike="noStrike">
                <a:solidFill>
                  <a:srgbClr val="C2C2C2"/>
                </a:solidFill>
                <a:latin typeface="Pretendard Bold"/>
                <a:ea typeface="Pretendard Bold"/>
                <a:cs typeface="Pretendard Bold"/>
              </a:rPr>
              <a:t>VISION 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2700" y="2565400"/>
            <a:ext cx="4699000" cy="5588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9600"/>
              </a:lnSpc>
            </a:pPr>
            <a:r>
              <a:rPr lang="en-US" sz="2999" b="true" i="false" u="none" strike="noStrike">
                <a:solidFill>
                  <a:srgbClr val="C2C2C2"/>
                </a:solidFill>
                <a:latin typeface="Pretendard Bold"/>
                <a:ea typeface="Pretendard Bold"/>
                <a:cs typeface="Pretendard Bold"/>
              </a:rPr>
              <a:t>VISION 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12700" y="190500"/>
            <a:ext cx="62484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99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02</a:t>
            </a:r>
            <a:r>
              <a:rPr lang="en-US" sz="4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VISION 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19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중대재해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z</a:t>
            </a:r>
            <a:r>
              <a:rPr lang="en-US" sz="2417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ero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를 향한 실시간 통제 체계</a:t>
            </a:r>
            <a:b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</a:b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255500" y="3340100"/>
            <a:ext cx="5511800" cy="50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989300" y="190500"/>
            <a:ext cx="17018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423158">
            <a:off x="11239500" y="1498600"/>
            <a:ext cx="8255000" cy="985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2700" y="9931400"/>
            <a:ext cx="185928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6243300" y="76200"/>
            <a:ext cx="1676400" cy="217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39800" y="4902200"/>
            <a:ext cx="40259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27100" y="6210300"/>
            <a:ext cx="40259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27100" y="6972300"/>
            <a:ext cx="4025900" cy="50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36700" y="6299200"/>
            <a:ext cx="2959100" cy="609600"/>
          </a:xfrm>
          <a:prstGeom prst="rect">
            <a:avLst/>
          </a:prstGeom>
        </p:spPr>
        <p:txBody>
          <a:bodyPr anchor="ctr" rtlCol="false" lIns="0" tIns="41909" rIns="0" bIns="41909"/>
          <a:lstStyle/>
          <a:p>
            <a:pPr algn="l" lvl="0">
              <a:lnSpc>
                <a:spcPct val="99600"/>
              </a:lnSpc>
            </a:pPr>
            <a:r>
              <a:rPr lang="en-US" sz="3299" b="tru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YOLO</a:t>
            </a:r>
            <a:r>
              <a:rPr lang="en-US" sz="3299" b="tru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99" b="true" i="false" u="none" strike="noStrike">
                <a:solidFill>
                  <a:srgbClr val="1F375D"/>
                </a:solidFill>
                <a:latin typeface="Pretendard SemiBold"/>
                <a:ea typeface="Pretendard SemiBold"/>
                <a:cs typeface="Pretendard SemiBold"/>
              </a:rPr>
              <a:t>객체감지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7000" y="5194300"/>
            <a:ext cx="3302000" cy="914400"/>
          </a:xfrm>
          <a:prstGeom prst="rect">
            <a:avLst/>
          </a:prstGeom>
        </p:spPr>
        <p:txBody>
          <a:bodyPr anchor="ctr" rtlCol="false" lIns="0" tIns="63500" rIns="0" bIns="63500"/>
          <a:lstStyle/>
          <a:p>
            <a:pPr algn="l" lvl="0">
              <a:lnSpc>
                <a:spcPct val="99600"/>
              </a:lnSpc>
            </a:pPr>
            <a:r>
              <a:rPr lang="en-US" sz="4999" b="false" i="tru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Detection</a:t>
            </a:r>
            <a:r>
              <a:rPr lang="en-US" sz="4999" b="false" i="true" u="none" strike="noStrike">
                <a:solidFill>
                  <a:srgbClr val="002E79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168900" y="4889500"/>
            <a:ext cx="4025900" cy="19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5168900" y="6197600"/>
            <a:ext cx="40259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5168900" y="6959600"/>
            <a:ext cx="4025900" cy="5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070600" y="6286500"/>
            <a:ext cx="2387600" cy="622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464300" y="5181600"/>
            <a:ext cx="1803400" cy="914400"/>
          </a:xfrm>
          <a:prstGeom prst="rect">
            <a:avLst/>
          </a:prstGeom>
        </p:spPr>
        <p:txBody>
          <a:bodyPr anchor="ctr" rtlCol="false" lIns="0" tIns="63500" rIns="0" bIns="63500"/>
          <a:lstStyle/>
          <a:p>
            <a:pPr algn="l" lvl="0">
              <a:lnSpc>
                <a:spcPct val="99600"/>
              </a:lnSpc>
            </a:pPr>
            <a:r>
              <a:rPr lang="en-US" sz="4999" b="false" i="tru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Zone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9398000" y="4889500"/>
            <a:ext cx="4025900" cy="190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385300" y="6197600"/>
            <a:ext cx="40259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398000" y="6959600"/>
            <a:ext cx="4025900" cy="50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0591800" y="6299200"/>
            <a:ext cx="1727200" cy="609600"/>
          </a:xfrm>
          <a:prstGeom prst="rect">
            <a:avLst/>
          </a:prstGeom>
        </p:spPr>
        <p:txBody>
          <a:bodyPr anchor="ctr" rtlCol="false" lIns="0" tIns="41909" rIns="0" bIns="41909"/>
          <a:lstStyle/>
          <a:p>
            <a:pPr algn="l" lvl="0">
              <a:lnSpc>
                <a:spcPct val="99600"/>
              </a:lnSpc>
            </a:pPr>
            <a:r>
              <a:rPr lang="en-US" sz="3299" b="true" i="false" u="none" strike="noStrike">
                <a:solidFill>
                  <a:srgbClr val="1F375D"/>
                </a:solidFill>
                <a:latin typeface="Pretendard SemiBold"/>
                <a:ea typeface="Pretendard SemiBold"/>
                <a:cs typeface="Pretendard SemiBold"/>
              </a:rPr>
              <a:t>작업</a:t>
            </a:r>
            <a:r>
              <a:rPr lang="en-US" sz="3299" b="tru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299" b="true" i="false" u="none" strike="noStrike">
                <a:solidFill>
                  <a:srgbClr val="0CB3F9"/>
                </a:solidFill>
                <a:latin typeface="Pretendard Bold"/>
                <a:ea typeface="Pretendard Bold"/>
                <a:cs typeface="Pretendard Bold"/>
              </a:rPr>
              <a:t>정보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88600" y="5181600"/>
            <a:ext cx="2222500" cy="914400"/>
          </a:xfrm>
          <a:prstGeom prst="rect">
            <a:avLst/>
          </a:prstGeom>
        </p:spPr>
        <p:txBody>
          <a:bodyPr anchor="ctr" rtlCol="false" lIns="0" tIns="63500" rIns="0" bIns="63500"/>
          <a:lstStyle/>
          <a:p>
            <a:pPr algn="l" lvl="0">
              <a:lnSpc>
                <a:spcPct val="99600"/>
              </a:lnSpc>
            </a:pPr>
            <a:r>
              <a:rPr lang="en-US" sz="4999" b="false" i="tru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Status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601700" y="4889500"/>
            <a:ext cx="4025900" cy="190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3601700" y="6197600"/>
            <a:ext cx="4025900" cy="50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3601700" y="6959600"/>
            <a:ext cx="4025900" cy="5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859000" y="6235700"/>
            <a:ext cx="1778000" cy="6985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4973300" y="5181600"/>
            <a:ext cx="1752600" cy="914400"/>
          </a:xfrm>
          <a:prstGeom prst="rect">
            <a:avLst/>
          </a:prstGeom>
        </p:spPr>
        <p:txBody>
          <a:bodyPr anchor="ctr" rtlCol="false" lIns="0" tIns="63500" rIns="0" bIns="63500"/>
          <a:lstStyle/>
          <a:p>
            <a:pPr algn="l" lvl="0">
              <a:lnSpc>
                <a:spcPct val="99600"/>
              </a:lnSpc>
            </a:pPr>
            <a:r>
              <a:rPr lang="en-US" sz="4999" b="false" i="tru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Alert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6200000">
            <a:off x="3962400" y="5930900"/>
            <a:ext cx="2222500" cy="50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6199999">
            <a:off x="12420600" y="5918200"/>
            <a:ext cx="2171700" cy="50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6200000">
            <a:off x="8178800" y="5930900"/>
            <a:ext cx="2222500" cy="508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500" y="190500"/>
            <a:ext cx="48133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03.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 핵심기능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5900" y="1524000"/>
            <a:ext cx="6438900" cy="457200"/>
          </a:xfrm>
          <a:prstGeom prst="rect">
            <a:avLst/>
          </a:prstGeom>
        </p:spPr>
        <p:txBody>
          <a:bodyPr anchor="ctr" rtlCol="false" lIns="0" tIns="30734" rIns="0" bIns="30734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현장의 </a:t>
            </a:r>
            <a:r>
              <a:rPr lang="en-US" sz="2417" b="false" i="false" u="none" strike="noStrike" cap="all">
                <a:solidFill>
                  <a:srgbClr val="1E365B"/>
                </a:solidFill>
                <a:latin typeface="Pretendard Bold"/>
                <a:ea typeface="Pretendard Bold"/>
                <a:cs typeface="Pretendard Bold"/>
              </a:rPr>
              <a:t>위험 경보 감지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 및 </a:t>
            </a:r>
            <a:r>
              <a:rPr lang="en-US" sz="2420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관제 프로세스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-152400" y="2222500"/>
            <a:ext cx="184531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 rot="0">
            <a:off x="-317500" y="-12700"/>
            <a:ext cx="19037300" cy="10693400"/>
          </a:xfrm>
          <a:prstGeom prst="rect">
            <a:avLst/>
          </a:prstGeom>
        </p:spPr>
      </p:pic>
      <p:sp>
        <p:nvSpPr>
          <p:cNvPr name="TextBox 3" id="3">
            <a:hlinkClick r:id="rId3" tooltip="https://127.0.0.1:8000"/>
          </p:cNvPr>
          <p:cNvSpPr txBox="true"/>
          <p:nvPr/>
        </p:nvSpPr>
        <p:spPr>
          <a:xfrm rot="0">
            <a:off x="2019300" y="4114800"/>
            <a:ext cx="14376400" cy="205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419" b="false" i="false" u="none" strike="noStrike">
                <a:solidFill>
                  <a:srgbClr val="FFFFFF"/>
                </a:solidFill>
                <a:latin typeface="210 OmniGothic 050"/>
                <a:ea typeface="210 OmniGothic 050"/>
                <a:cs typeface="210 OmniGothic 050"/>
              </a:rPr>
              <a:t>실시간 대시보드 시연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4600" y="76200"/>
            <a:ext cx="3009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K-뉴딜</a:t>
            </a:r>
            <a:r>
              <a:rPr lang="en-US" sz="240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Vision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63500" y="38100"/>
            <a:ext cx="1536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42" b="tru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2742" b="tru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OSCO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60900" y="3759200"/>
            <a:ext cx="8953500" cy="520700"/>
          </a:xfrm>
          <a:prstGeom prst="rect">
            <a:avLst/>
          </a:prstGeom>
        </p:spPr>
        <p:txBody>
          <a:bodyPr anchor="t" rtlCol="false" lIns="0" tIns="71120" rIns="0" bIns="0"/>
          <a:lstStyle/>
          <a:p>
            <a:pPr algn="ctr" lvl="0">
              <a:lnSpc>
                <a:spcPct val="83000"/>
              </a:lnSpc>
            </a:pPr>
            <a:r>
              <a:rPr lang="en-US" sz="2800" b="true" i="false" u="none" strike="noStrike" spc="100">
                <a:solidFill>
                  <a:srgbClr val="FD9F28"/>
                </a:solidFill>
                <a:latin typeface="Pretendard Light"/>
                <a:ea typeface="Pretendard Light"/>
                <a:cs typeface="Pretendard Light"/>
              </a:rPr>
              <a:t>THE FUTURE OF CONSTRUCTION SAFETY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4808200" y="3530600"/>
            <a:ext cx="10414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136900" y="5880100"/>
            <a:ext cx="120142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건설현장의 내일을 바꾸는 스마트 비전 AI 관제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241300" y="-12700"/>
            <a:ext cx="18783300" cy="1090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2700" y="99314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255000" y="508000"/>
            <a:ext cx="9550400" cy="891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11200" y="1333500"/>
            <a:ext cx="7899400" cy="353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899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건축물과 함께</a:t>
            </a:r>
          </a:p>
          <a:p>
            <a:pPr algn="l" lvl="0">
              <a:lnSpc>
                <a:spcPct val="138609"/>
              </a:lnSpc>
            </a:pPr>
            <a:r>
              <a:rPr lang="en-US" sz="899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올라가는 카메라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12979400" y="3632200"/>
            <a:ext cx="1473200" cy="876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74700" y="254000"/>
            <a:ext cx="6515100" cy="825500"/>
          </a:xfrm>
          <a:prstGeom prst="rect">
            <a:avLst/>
          </a:prstGeom>
        </p:spPr>
        <p:txBody>
          <a:bodyPr anchor="ctr" rtlCol="false" lIns="0" tIns="57150" rIns="0" bIns="57150"/>
          <a:lstStyle/>
          <a:p>
            <a:pPr algn="l" lvl="0">
              <a:lnSpc>
                <a:spcPct val="99600"/>
              </a:lnSpc>
            </a:pPr>
            <a:r>
              <a:rPr lang="en-US" sz="4500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Cam</a:t>
            </a:r>
            <a:r>
              <a:rPr lang="en-US" sz="4500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 설치 형식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" y="9398000"/>
            <a:ext cx="95631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출처 : Hercules Cranes SCARLET 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29700" y="4876800"/>
            <a:ext cx="228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991100"/>
            <a:ext cx="228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6600" y="9398000"/>
            <a:ext cx="95631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FD9F28"/>
                </a:solidFill>
                <a:latin typeface="Pretendard SemiBold"/>
                <a:ea typeface="Pretendard SemiBold"/>
                <a:cs typeface="Pretendard SemiBold"/>
              </a:rPr>
              <a:t>참고 사례 : 팀이 제작한 장비 아님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215900" y="1181100"/>
            <a:ext cx="76454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599999">
            <a:off x="114300" y="5130800"/>
            <a:ext cx="7645400" cy="63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74700" y="5346700"/>
            <a:ext cx="71755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탑 마스트  · 텔레스코핑 케이지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700" y="5778500"/>
            <a:ext cx="31115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55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넓은 화각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700" y="7239000"/>
            <a:ext cx="71755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9E9E9E"/>
                </a:solidFill>
                <a:latin typeface="Pretendard SemiBold"/>
                <a:ea typeface="Pretendard SemiBold"/>
                <a:cs typeface="Pretendard SemiBold"/>
              </a:rPr>
              <a:t>후크 · 블록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4700" y="7670800"/>
            <a:ext cx="61849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55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작업 지점 근접 촬영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1599999">
            <a:off x="215900" y="6959600"/>
            <a:ext cx="76454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241300" y="-12700"/>
            <a:ext cx="18783300" cy="1090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2700" y="99314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1800" y="279400"/>
            <a:ext cx="6032500" cy="1003300"/>
          </a:xfrm>
          <a:prstGeom prst="rect">
            <a:avLst/>
          </a:prstGeom>
        </p:spPr>
        <p:txBody>
          <a:bodyPr anchor="ctr" rtlCol="false" lIns="0" tIns="69818" rIns="0" bIns="69818"/>
          <a:lstStyle/>
          <a:p>
            <a:pPr algn="l" lvl="0">
              <a:lnSpc>
                <a:spcPct val="99600"/>
              </a:lnSpc>
            </a:pPr>
            <a:r>
              <a:rPr lang="en-US" sz="5497" b="false" i="false" u="none" strike="noStrike" cap="all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대시보드</a:t>
            </a:r>
            <a:r>
              <a:rPr lang="en-US" sz="549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 모바일 </a:t>
            </a:r>
            <a:r>
              <a:rPr lang="en-US" sz="5497" b="false" i="false" u="none" strike="noStrike" cap="all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연동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29700" y="4876800"/>
            <a:ext cx="228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304800" y="2463800"/>
            <a:ext cx="6692900" cy="6692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144000" y="4991100"/>
            <a:ext cx="228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-12700" y="1892300"/>
            <a:ext cx="18338800" cy="6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48600" y="2032000"/>
            <a:ext cx="9779000" cy="7797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55600" y="6896100"/>
            <a:ext cx="6604000" cy="151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관리자 웹 푸시 알림</a:t>
            </a:r>
          </a:p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경보 · 스냅샷 직발신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2600" y="3187700"/>
            <a:ext cx="6616700" cy="1358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75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위험 이벤트 감지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2921000" y="5130800"/>
            <a:ext cx="1473200" cy="876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82600" y="12573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현장 밀착형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 위험 알림 시스템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103600" y="-12700"/>
            <a:ext cx="151130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241300" y="-12700"/>
            <a:ext cx="18783300" cy="1090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2700" y="99314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10000" y="241300"/>
            <a:ext cx="14490700" cy="9550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-304800" y="-12700"/>
            <a:ext cx="4140200" cy="10134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8900" y="673100"/>
            <a:ext cx="3695700" cy="876300"/>
          </a:xfrm>
          <a:prstGeom prst="rect">
            <a:avLst/>
          </a:prstGeom>
        </p:spPr>
        <p:txBody>
          <a:bodyPr anchor="ctr" rtlCol="false" lIns="0" tIns="60960" rIns="0" bIns="60960"/>
          <a:lstStyle/>
          <a:p>
            <a:pPr algn="l" lvl="0">
              <a:lnSpc>
                <a:spcPct val="99600"/>
              </a:lnSpc>
            </a:pPr>
            <a:r>
              <a:rPr lang="en-US" sz="48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모델 성능 검증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3800" y="76200"/>
            <a:ext cx="288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0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K-뉴딜</a:t>
            </a:r>
            <a:r>
              <a:rPr lang="en-US" sz="230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Vision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63500" y="38100"/>
            <a:ext cx="1485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34" b="tru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2634" b="tru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OSCO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1168400" y="266700"/>
            <a:ext cx="406400" cy="38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8900" y="1689100"/>
            <a:ext cx="2514600" cy="8255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조명·거리·각도·화질</a:t>
            </a:r>
          </a:p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조건 변수 테스트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01000" y="4914900"/>
            <a:ext cx="457200" cy="46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01000" y="6515100"/>
            <a:ext cx="457200" cy="469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01000" y="8102600"/>
            <a:ext cx="4572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241300" y="-12700"/>
            <a:ext cx="18783300" cy="1090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2700" y="99314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304800" y="-12700"/>
            <a:ext cx="4140200" cy="10134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900" y="673100"/>
            <a:ext cx="3657600" cy="876300"/>
          </a:xfrm>
          <a:prstGeom prst="rect">
            <a:avLst/>
          </a:prstGeom>
        </p:spPr>
        <p:txBody>
          <a:bodyPr anchor="ctr" rtlCol="false" lIns="0" tIns="60960" rIns="0" bIns="60960"/>
          <a:lstStyle/>
          <a:p>
            <a:pPr algn="l" lvl="0">
              <a:lnSpc>
                <a:spcPct val="99600"/>
              </a:lnSpc>
            </a:pPr>
            <a:r>
              <a:rPr lang="en-US" sz="48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모델 성능 개선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3800" y="76200"/>
            <a:ext cx="288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0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K-뉴딜</a:t>
            </a:r>
            <a:r>
              <a:rPr lang="en-US" sz="230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Vision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63500" y="38100"/>
            <a:ext cx="1485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34" b="tru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2634" b="tru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OSCO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168400" y="266700"/>
            <a:ext cx="406400" cy="38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88900" y="1689100"/>
            <a:ext cx="37338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카메라별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정밀 탐지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4305300" y="2844800"/>
          <a:ext cx="12814300" cy="6146800"/>
        </p:xfrm>
        <a:graphic>
          <a:graphicData uri="http://schemas.openxmlformats.org/drawingml/2006/table">
            <a:tbl>
              <a:tblPr/>
              <a:tblGrid>
                <a:gridCol w="3195580"/>
                <a:gridCol w="3195580"/>
                <a:gridCol w="3195580"/>
                <a:gridCol w="3195580"/>
              </a:tblGrid>
              <a:tr h="137687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방법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3배 멀리 유지율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장담 탐지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카메라당 초당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118363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기본값 640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28%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32ms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7.7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363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3000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정밀 탐지 960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52%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59ms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4.2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</a:tr>
              <a:tr h="118363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입력 1280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58%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102ms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2.4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363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타일 2x2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57%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168ms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32" b="false" i="false" u="none" strike="noStrike">
                          <a:solidFill>
                            <a:srgbClr val="1F1F1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1.5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305300" y="5130800"/>
            <a:ext cx="939800" cy="939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4318000" y="254000"/>
            <a:ext cx="61976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45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원거리 객체의 </a:t>
            </a:r>
            <a:r>
              <a:rPr lang="en-US" sz="45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탐지율</a:t>
            </a:r>
            <a:r>
              <a:rPr lang="en-US" sz="45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 개선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4216400" y="1054100"/>
            <a:ext cx="7340600" cy="63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4318000" y="1219200"/>
            <a:ext cx="109982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38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3배 멀리</a:t>
            </a:r>
            <a:r>
              <a:rPr lang="en-US" sz="38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 보이는 물체의 유지율을 </a:t>
            </a:r>
            <a:r>
              <a:rPr lang="en-US" sz="38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28%</a:t>
            </a:r>
            <a:r>
              <a:rPr lang="en-US" sz="38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에서</a:t>
            </a:r>
            <a:r>
              <a:rPr lang="en-US" sz="380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 52%</a:t>
            </a:r>
            <a:r>
              <a:rPr lang="en-US" sz="38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18000" y="1930400"/>
            <a:ext cx="109347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역광</a:t>
            </a:r>
            <a:r>
              <a:rPr lang="en-US" sz="2415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과 </a:t>
            </a:r>
            <a:r>
              <a:rPr lang="en-US" sz="2415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흔들림</a:t>
            </a:r>
            <a:r>
              <a:rPr lang="en-US" sz="2415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은 소프트웨어 보정으로 해결되지 않아, 카메라 설치 위치와 고정으로 대응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241300" y="-12700"/>
            <a:ext cx="18783300" cy="1090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423158">
            <a:off x="11239500" y="1498600"/>
            <a:ext cx="8255000" cy="985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12700" y="9931400"/>
            <a:ext cx="18592800" cy="368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800" y="190500"/>
            <a:ext cx="95377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99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04</a:t>
            </a:r>
            <a:r>
              <a:rPr lang="en-US" sz="4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기술 스택 및 DB 구조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59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사용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기술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및 데이터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 흐름도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6908800" y="3924300"/>
            <a:ext cx="4356100" cy="4356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366000" y="4660900"/>
            <a:ext cx="3441700" cy="1003300"/>
          </a:xfrm>
          <a:prstGeom prst="rect">
            <a:avLst/>
          </a:prstGeom>
        </p:spPr>
        <p:txBody>
          <a:bodyPr anchor="ctr" rtlCol="false" lIns="0" tIns="69818" rIns="0" bIns="69818"/>
          <a:lstStyle/>
          <a:p>
            <a:pPr algn="ctr" lvl="0">
              <a:lnSpc>
                <a:spcPct val="99600"/>
              </a:lnSpc>
            </a:pPr>
            <a:r>
              <a:rPr lang="en-US" sz="5497" b="false" i="false" u="none" strike="noStrike">
                <a:solidFill>
                  <a:srgbClr val="E6AA3C"/>
                </a:solidFill>
                <a:latin typeface="Pretendard Bold"/>
                <a:ea typeface="Pretendard Bold"/>
                <a:cs typeface="Pretendard Bold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04100" y="5727700"/>
            <a:ext cx="3365500" cy="1714500"/>
          </a:xfrm>
          <a:prstGeom prst="rect">
            <a:avLst/>
          </a:prstGeom>
        </p:spPr>
        <p:txBody>
          <a:bodyPr anchor="ctr" rtlCol="false" lIns="0" tIns="44450" rIns="0" bIns="44450"/>
          <a:lstStyle/>
          <a:p>
            <a:pPr algn="ctr" lvl="0">
              <a:lnSpc>
                <a:spcPct val="99600"/>
              </a:lnSpc>
            </a:pP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HTML/CSS</a:t>
            </a:r>
          </a:p>
          <a:p>
            <a:pPr algn="ctr" lvl="0">
              <a:lnSpc>
                <a:spcPct val="99600"/>
              </a:lnSpc>
            </a:pP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JS direct serve</a:t>
            </a:r>
          </a:p>
          <a:p>
            <a:pPr algn="ctr" lvl="0">
              <a:lnSpc>
                <a:spcPct val="99600"/>
              </a:lnSpc>
            </a:pP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Push API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711200" y="3924300"/>
            <a:ext cx="4356100" cy="4356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68400" y="4660900"/>
            <a:ext cx="3441700" cy="1003300"/>
          </a:xfrm>
          <a:prstGeom prst="rect">
            <a:avLst/>
          </a:prstGeom>
        </p:spPr>
        <p:txBody>
          <a:bodyPr anchor="ctr" rtlCol="false" lIns="0" tIns="69818" rIns="0" bIns="69818"/>
          <a:lstStyle/>
          <a:p>
            <a:pPr algn="ctr" lvl="0">
              <a:lnSpc>
                <a:spcPct val="99600"/>
              </a:lnSpc>
            </a:pPr>
            <a:r>
              <a:rPr lang="en-US" sz="5497" b="false" i="false" u="none" strike="noStrike">
                <a:solidFill>
                  <a:srgbClr val="FFCD4A"/>
                </a:solidFill>
                <a:latin typeface="Pretendard Bold"/>
                <a:ea typeface="Pretendard Bold"/>
                <a:cs typeface="Pretendard Bold"/>
              </a:rPr>
              <a:t>VISION 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8300" y="5956300"/>
            <a:ext cx="2489200" cy="787400"/>
          </a:xfrm>
          <a:prstGeom prst="rect">
            <a:avLst/>
          </a:prstGeom>
        </p:spPr>
        <p:txBody>
          <a:bodyPr anchor="ctr" rtlCol="false" lIns="0" tIns="54578" rIns="0" bIns="54578"/>
          <a:lstStyle/>
          <a:p>
            <a:pPr algn="ctr" lvl="0">
              <a:lnSpc>
                <a:spcPct val="99600"/>
              </a:lnSpc>
            </a:pPr>
            <a:r>
              <a:rPr lang="en-US" sz="429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Yolov8n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9700" y="6718300"/>
            <a:ext cx="2946400" cy="787400"/>
          </a:xfrm>
          <a:prstGeom prst="rect">
            <a:avLst/>
          </a:prstGeom>
        </p:spPr>
        <p:txBody>
          <a:bodyPr anchor="ctr" rtlCol="false" lIns="0" tIns="54578" rIns="0" bIns="54578"/>
          <a:lstStyle/>
          <a:p>
            <a:pPr algn="ctr" lvl="0">
              <a:lnSpc>
                <a:spcPct val="99600"/>
              </a:lnSpc>
            </a:pPr>
            <a:r>
              <a:rPr lang="en-US" sz="429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OpenVINO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3081000" y="3924300"/>
            <a:ext cx="4356100" cy="4356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538200" y="4660900"/>
            <a:ext cx="3441700" cy="1003300"/>
          </a:xfrm>
          <a:prstGeom prst="rect">
            <a:avLst/>
          </a:prstGeom>
        </p:spPr>
        <p:txBody>
          <a:bodyPr anchor="ctr" rtlCol="false" lIns="0" tIns="69818" rIns="0" bIns="69818"/>
          <a:lstStyle/>
          <a:p>
            <a:pPr algn="ctr" lvl="0">
              <a:lnSpc>
                <a:spcPct val="99600"/>
              </a:lnSpc>
            </a:pPr>
            <a:r>
              <a:rPr lang="en-US" sz="5497" b="false" i="false" u="none" strike="noStrike">
                <a:solidFill>
                  <a:srgbClr val="FFF1CC"/>
                </a:solidFill>
                <a:latin typeface="Pretendard Bold"/>
                <a:ea typeface="Pretendard Bold"/>
                <a:cs typeface="Pretendard Bold"/>
              </a:rPr>
              <a:t>BackEnd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20800" y="5956300"/>
            <a:ext cx="2489200" cy="787400"/>
          </a:xfrm>
          <a:prstGeom prst="rect">
            <a:avLst/>
          </a:prstGeom>
        </p:spPr>
        <p:txBody>
          <a:bodyPr anchor="ctr" rtlCol="false" lIns="0" tIns="54578" rIns="0" bIns="54578"/>
          <a:lstStyle/>
          <a:p>
            <a:pPr algn="ctr" lvl="0">
              <a:lnSpc>
                <a:spcPct val="99600"/>
              </a:lnSpc>
            </a:pPr>
            <a:r>
              <a:rPr lang="en-US" sz="4297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FastAPI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03300" y="6718300"/>
            <a:ext cx="3111500" cy="546100"/>
          </a:xfrm>
          <a:prstGeom prst="rect">
            <a:avLst/>
          </a:prstGeom>
        </p:spPr>
        <p:txBody>
          <a:bodyPr anchor="ctr" rtlCol="false" lIns="0" tIns="36766" rIns="0" bIns="36766"/>
          <a:lstStyle/>
          <a:p>
            <a:pPr algn="ctr" lvl="0">
              <a:lnSpc>
                <a:spcPct val="99600"/>
              </a:lnSpc>
            </a:pPr>
            <a:r>
              <a:rPr lang="en-US" sz="2895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JWT/bcrypt 보안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-152400" y="2222500"/>
            <a:ext cx="18453100" cy="63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268700" y="114300"/>
            <a:ext cx="17018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241300" y="-12700"/>
            <a:ext cx="18783300" cy="1090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423158">
            <a:off x="11239500" y="1498600"/>
            <a:ext cx="8255000" cy="985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12700" y="9931400"/>
            <a:ext cx="18592800" cy="3683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2781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-152400" y="2222500"/>
            <a:ext cx="184531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68700" y="114300"/>
            <a:ext cx="1701800" cy="213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50900" y="4597400"/>
            <a:ext cx="2984500" cy="298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4254500" y="4597400"/>
            <a:ext cx="2984500" cy="298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7658100" y="4597400"/>
            <a:ext cx="2984500" cy="298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1049000" y="4597400"/>
            <a:ext cx="2984500" cy="298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4452600" y="4597400"/>
            <a:ext cx="2984500" cy="2984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168400" y="5308600"/>
            <a:ext cx="25273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4297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CAM 영상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9000" y="6515100"/>
            <a:ext cx="29083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CAM · 현장도면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06900" y="5308600"/>
            <a:ext cx="28448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4297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YOLO 감지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92600" y="6515100"/>
            <a:ext cx="29083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사람 · 장비 탐지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7000" y="5359400"/>
            <a:ext cx="29718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38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구역 규칙 판정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83500" y="6261100"/>
            <a:ext cx="29083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작업구역 · ROI</a:t>
            </a:r>
          </a:p>
          <a:p>
            <a:pPr algn="ctr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감지 규칙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64900" y="5308600"/>
            <a:ext cx="27178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4297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이벤트 저장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87100" y="6515100"/>
            <a:ext cx="29083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감지 이벤트 · 스냅샷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05000" y="5359400"/>
            <a:ext cx="28194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8609"/>
              </a:lnSpc>
            </a:pPr>
            <a:r>
              <a:rPr lang="en-US" sz="3800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대시보드 표시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90700" y="6515100"/>
            <a:ext cx="29083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8609"/>
              </a:lnSpc>
            </a:pPr>
            <a:r>
              <a:rPr lang="en-US" sz="2415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경보 · 처리 기록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943100" y="3403600"/>
            <a:ext cx="800100" cy="800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5346700" y="3403600"/>
            <a:ext cx="800100" cy="800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8750300" y="3390900"/>
            <a:ext cx="800100" cy="800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2141200" y="3390900"/>
            <a:ext cx="800100" cy="800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5570200" y="3416300"/>
            <a:ext cx="800100" cy="8001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50800" y="190500"/>
            <a:ext cx="95377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99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04</a:t>
            </a:r>
            <a:r>
              <a:rPr lang="en-US" sz="4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기술 스택 및 DB 구조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59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사용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기술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및 데이터 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흐름도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423158">
            <a:off x="11099800" y="1574800"/>
            <a:ext cx="8255000" cy="985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52400" y="99187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908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12700" y="2463800"/>
            <a:ext cx="18453100" cy="63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-508000" y="190500"/>
            <a:ext cx="62484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4299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05</a:t>
            </a:r>
            <a:r>
              <a:rPr lang="en-US" sz="4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기대 효과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51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사고를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사전에 차단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하는 체계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0400" y="5029200"/>
            <a:ext cx="52578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0269"/>
              </a:lnSpc>
            </a:pPr>
            <a:r>
              <a:rPr lang="en-US" sz="5336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재해 리스크 최소화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558800" y="4787900"/>
            <a:ext cx="5156200" cy="50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44600" y="6184900"/>
            <a:ext cx="39878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매일 바뀌는 건설현장에 맞춰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89700" y="5029200"/>
            <a:ext cx="52578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5336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위험 정보 공유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502400" y="4787900"/>
            <a:ext cx="5156200" cy="50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7175500" y="6184900"/>
            <a:ext cx="39878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안전작업 계획과 실시간 위험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33300" y="5029200"/>
            <a:ext cx="52578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5336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규제 대응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2433300" y="4787900"/>
            <a:ext cx="5156200" cy="50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068300" y="6184900"/>
            <a:ext cx="39878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증빙 데이터 확보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471900" y="558800"/>
            <a:ext cx="1447800" cy="195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423158">
            <a:off x="11417300" y="1409700"/>
            <a:ext cx="8255000" cy="985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52400" y="99187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908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12700" y="2463800"/>
            <a:ext cx="18453100" cy="63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8100" y="190500"/>
            <a:ext cx="7162800" cy="1358900"/>
          </a:xfrm>
          <a:prstGeom prst="rect">
            <a:avLst/>
          </a:prstGeom>
        </p:spPr>
        <p:txBody>
          <a:bodyPr anchor="ctr" rtlCol="false" lIns="0" tIns="95250" rIns="0" bIns="95250"/>
          <a:lstStyle/>
          <a:p>
            <a:pPr algn="ctr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06.</a:t>
            </a:r>
            <a:r>
              <a:rPr lang="en-US" sz="7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한계 및 개선점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59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프로젝트 중 느낀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한계점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과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미래논의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256000" y="-12700"/>
            <a:ext cx="1778000" cy="256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435100" y="5867400"/>
            <a:ext cx="44704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6769100" y="5867400"/>
            <a:ext cx="4470400" cy="50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810000" y="6096000"/>
            <a:ext cx="5041900" cy="927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5088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관제 항목</a:t>
            </a:r>
            <a:r>
              <a:rPr lang="en-US" sz="5088" b="false" i="false" u="none" strike="noStrike">
                <a:solidFill>
                  <a:srgbClr val="0E427F"/>
                </a:solidFill>
                <a:latin typeface="Pretendard Bold"/>
                <a:ea typeface="Pretendard Bold"/>
                <a:cs typeface="Pretendard Bold"/>
              </a:rPr>
              <a:t>의 다양성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473700" y="4368800"/>
            <a:ext cx="1714500" cy="1473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-139700" y="6083300"/>
            <a:ext cx="3873500" cy="95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5250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기능</a:t>
            </a:r>
            <a:r>
              <a:rPr lang="en-US" sz="5250" b="false" i="false" u="none" strike="noStrike">
                <a:solidFill>
                  <a:srgbClr val="0E427F"/>
                </a:solidFill>
                <a:latin typeface="Pretendard Bold"/>
                <a:ea typeface="Pretendard Bold"/>
                <a:cs typeface="Pretendard Bold"/>
              </a:rPr>
              <a:t>의 부족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65200" y="4368800"/>
            <a:ext cx="1663700" cy="1663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283700" y="6121400"/>
            <a:ext cx="4406900" cy="90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4918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단일 화각</a:t>
            </a:r>
            <a:r>
              <a:rPr lang="en-US" sz="4918" b="false" i="fals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의 한계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0579100" y="4381500"/>
            <a:ext cx="1714500" cy="1587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5151100" y="4356100"/>
            <a:ext cx="1612900" cy="1612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6200000">
            <a:off x="11684000" y="5981700"/>
            <a:ext cx="4470400" cy="5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3931900" y="6121400"/>
            <a:ext cx="4406900" cy="90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4918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iOS </a:t>
            </a:r>
            <a:r>
              <a:rPr lang="en-US" sz="4918" b="false" i="fals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푸시 알림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423158">
            <a:off x="11417300" y="1409700"/>
            <a:ext cx="8255000" cy="985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52400" y="99187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908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12700" y="2463800"/>
            <a:ext cx="18453100" cy="63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17600" y="6083300"/>
            <a:ext cx="69723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6399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신뢰도·정확도 </a:t>
            </a:r>
            <a:r>
              <a:rPr lang="en-US" sz="6399" b="false" i="fals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향상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72700" y="6083300"/>
            <a:ext cx="69850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6399" b="fals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다양한 기술</a:t>
            </a:r>
            <a:r>
              <a:rPr lang="en-US" sz="6399" b="false" i="fals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과</a:t>
            </a:r>
            <a:r>
              <a:rPr lang="en-US" sz="6399" b="false" i="false" u="none" strike="noStrike">
                <a:solidFill>
                  <a:srgbClr val="002E79"/>
                </a:solidFill>
                <a:latin typeface="Pretendard Bold"/>
                <a:ea typeface="Pretendard Bold"/>
                <a:cs typeface="Pretendard Bold"/>
              </a:rPr>
              <a:t> 결합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408400" y="50800"/>
            <a:ext cx="1447800" cy="2463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3695700" y="4089400"/>
            <a:ext cx="1816100" cy="181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661900" y="3987800"/>
            <a:ext cx="2019300" cy="2019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6921500" y="5867400"/>
            <a:ext cx="4470400" cy="50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8100" y="190500"/>
            <a:ext cx="7162800" cy="1358900"/>
          </a:xfrm>
          <a:prstGeom prst="rect">
            <a:avLst/>
          </a:prstGeom>
        </p:spPr>
        <p:txBody>
          <a:bodyPr anchor="ctr" rtlCol="false" lIns="0" tIns="95250" rIns="0" bIns="95250"/>
          <a:lstStyle/>
          <a:p>
            <a:pPr algn="ctr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06.</a:t>
            </a:r>
            <a:r>
              <a:rPr lang="en-US" sz="7500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 한계 및 개선점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900" y="1524000"/>
            <a:ext cx="6438900" cy="457200"/>
          </a:xfrm>
          <a:prstGeom prst="rect">
            <a:avLst/>
          </a:prstGeom>
        </p:spPr>
        <p:txBody>
          <a:bodyPr anchor="ctr" rtlCol="false" lIns="0" tIns="30707" rIns="0" bIns="30707"/>
          <a:lstStyle/>
          <a:p>
            <a:pPr algn="l" lvl="0">
              <a:lnSpc>
                <a:spcPct val="99600"/>
              </a:lnSpc>
            </a:pP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프로젝트 중 느낀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한계점</a:t>
            </a:r>
            <a:r>
              <a:rPr lang="en-US" sz="2417" b="false" i="false" u="none" strike="noStrike" cap="all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과 </a:t>
            </a:r>
            <a:r>
              <a:rPr lang="en-US" sz="2417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미래논의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423158">
            <a:off x="11099800" y="1574800"/>
            <a:ext cx="8255000" cy="985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52400" y="9918700"/>
            <a:ext cx="18592800" cy="36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90800" y="9918700"/>
            <a:ext cx="7442200" cy="381000"/>
          </a:xfrm>
          <a:prstGeom prst="rect">
            <a:avLst/>
          </a:prstGeom>
        </p:spPr>
        <p:txBody>
          <a:bodyPr anchor="ctr" rtlCol="false" lIns="0" tIns="25399" rIns="0" bIns="25399"/>
          <a:lstStyle/>
          <a:p>
            <a:pPr algn="l" lvl="0">
              <a:lnSpc>
                <a:spcPct val="99600"/>
              </a:lnSpc>
            </a:pPr>
            <a:r>
              <a:rPr lang="en-US" sz="1999" b="false" i="false" u="none" strike="noStrike" cap="all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1999" b="false" i="false" u="none" strike="noStrike" cap="all">
                <a:solidFill>
                  <a:srgbClr val="EEEEEE"/>
                </a:solidFill>
                <a:latin typeface="Pretendard Bold"/>
                <a:ea typeface="Pretendard Bold"/>
                <a:cs typeface="Pretendard Bold"/>
              </a:rPr>
              <a:t>OSCO K-뉴딜 VISION AI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76200" y="1701800"/>
            <a:ext cx="18453100" cy="63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8100" y="190500"/>
            <a:ext cx="6629400" cy="1358900"/>
          </a:xfrm>
          <a:prstGeom prst="rect">
            <a:avLst/>
          </a:prstGeom>
        </p:spPr>
        <p:txBody>
          <a:bodyPr anchor="ctr" rtlCol="false" lIns="0" tIns="95247" rIns="0" bIns="95247"/>
          <a:lstStyle/>
          <a:p>
            <a:pPr algn="ctr" lvl="0">
              <a:lnSpc>
                <a:spcPct val="99600"/>
              </a:lnSpc>
            </a:pPr>
            <a:r>
              <a:rPr lang="en-US" sz="7498" b="false" i="false" u="none" strike="noStrike">
                <a:solidFill>
                  <a:srgbClr val="1F375D"/>
                </a:solidFill>
                <a:latin typeface="Pretendard Bold"/>
                <a:ea typeface="Pretendard Bold"/>
                <a:cs typeface="Pretendard Bold"/>
              </a:rPr>
              <a:t>함께 만든 사람들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26900" y="5562600"/>
            <a:ext cx="52578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5336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김민경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026900" y="5321300"/>
            <a:ext cx="5156200" cy="50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420600" y="6718300"/>
            <a:ext cx="4584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역할 : ROI 구현, 웹사이트 크롤링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57000" y="7416800"/>
            <a:ext cx="61976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업무 : ROI 지정 구현 및 데이터 저장</a:t>
            </a:r>
          </a:p>
          <a:p>
            <a:pPr algn="ctr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selenium 웹사이트 내 객체 추출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30300" y="2743200"/>
            <a:ext cx="1638300" cy="2603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299200" y="5562600"/>
            <a:ext cx="52578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5336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임경현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299200" y="5321300"/>
            <a:ext cx="5156200" cy="50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921500" y="6718300"/>
            <a:ext cx="41148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역할 : DB 구축, 객체탐지 구현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16700" y="7416800"/>
            <a:ext cx="46228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업무 : MYSQL 이용한 DB구축
YOLO모델 학습 및 객체탐지 구현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39100" y="2743200"/>
            <a:ext cx="1676400" cy="26035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20700" y="5562600"/>
            <a:ext cx="52578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5336" b="false" i="false" u="none" strike="noStrike">
                <a:solidFill>
                  <a:srgbClr val="1B2F5E"/>
                </a:solidFill>
                <a:latin typeface="Pretendard Bold"/>
                <a:ea typeface="Pretendard Bold"/>
                <a:cs typeface="Pretendard Bold"/>
              </a:rPr>
              <a:t>이승현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520700" y="5321300"/>
            <a:ext cx="5156200" cy="5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155700" y="6718300"/>
            <a:ext cx="39878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역할 : PM · 도메인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5700" y="7416800"/>
            <a:ext cx="39878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업무 : 프로젝트 기획 및 구상</a:t>
            </a:r>
          </a:p>
          <a:p>
            <a:pPr algn="ctr" lvl="0">
              <a:lnSpc>
                <a:spcPct val="140269"/>
              </a:lnSpc>
            </a:pPr>
            <a:r>
              <a:rPr lang="en-US" sz="2668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문서 작성, 레퍼런스 수집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70100" y="2794000"/>
            <a:ext cx="19431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2E7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1000"/>
          </a:blip>
          <a:stretch>
            <a:fillRect/>
          </a:stretch>
        </p:blipFill>
        <p:spPr>
          <a:xfrm rot="0">
            <a:off x="-317500" y="-12700"/>
            <a:ext cx="19037300" cy="10693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857500" y="3479800"/>
            <a:ext cx="12573000" cy="205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419" b="false" i="false" u="none" strike="noStrike">
                <a:solidFill>
                  <a:srgbClr val="FFFFFF"/>
                </a:solidFill>
                <a:latin typeface="210 OmniGothic 050"/>
                <a:ea typeface="210 OmniGothic 050"/>
                <a:cs typeface="210 OmniGothic 050"/>
              </a:rPr>
              <a:t>경청해주셔서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21200" y="5105400"/>
            <a:ext cx="9258300" cy="205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419" b="false" i="false" u="none" strike="noStrike">
                <a:solidFill>
                  <a:srgbClr val="FFFFFF"/>
                </a:solidFill>
                <a:latin typeface="210 OmniGothic 050"/>
                <a:ea typeface="210 OmniGothic 050"/>
                <a:cs typeface="210 OmniGothic 050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